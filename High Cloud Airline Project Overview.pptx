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handoutMasterIdLst>
    <p:handoutMasterId r:id="rId14"/>
  </p:handoutMasterIdLst>
  <p:sldIdLst>
    <p:sldId id="293" r:id="rId2"/>
    <p:sldId id="259" r:id="rId3"/>
    <p:sldId id="322" r:id="rId4"/>
    <p:sldId id="323" r:id="rId5"/>
    <p:sldId id="324" r:id="rId6"/>
    <p:sldId id="321" r:id="rId7"/>
    <p:sldId id="325" r:id="rId8"/>
    <p:sldId id="326" r:id="rId9"/>
    <p:sldId id="327" r:id="rId10"/>
    <p:sldId id="328" r:id="rId11"/>
    <p:sldId id="297" r:id="rId12"/>
  </p:sldIdLst>
  <p:sldSz cx="9144000" cy="6858000" type="screen4x3"/>
  <p:notesSz cx="6858000" cy="9144000"/>
  <p:embeddedFontLst>
    <p:embeddedFont>
      <p:font typeface="굴림체" panose="020B0609000101010101" pitchFamily="49" charset="-127"/>
      <p:regular r:id="rId15"/>
    </p:embeddedFont>
    <p:embeddedFont>
      <p:font typeface="맑은 고딕" panose="020B0503020000020004" pitchFamily="34" charset="-127"/>
      <p:regular r:id="rId16"/>
      <p:bold r:id="rId17"/>
    </p:embeddedFont>
    <p:embeddedFont>
      <p:font typeface="Algerian" panose="04020705040A02060702" pitchFamily="82" charset="0"/>
      <p:regular r:id="rId18"/>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266B"/>
    <a:srgbClr val="D8453E"/>
    <a:srgbClr val="0F3A55"/>
    <a:srgbClr val="337BA9"/>
    <a:srgbClr val="EE6F10"/>
    <a:srgbClr val="7C2A3B"/>
    <a:srgbClr val="3F6603"/>
    <a:srgbClr val="F07E28"/>
    <a:srgbClr val="070805"/>
    <a:srgbClr val="F6B1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031" autoAdjust="0"/>
    <p:restoredTop sz="94792" autoAdjust="0"/>
  </p:normalViewPr>
  <p:slideViewPr>
    <p:cSldViewPr>
      <p:cViewPr varScale="1">
        <p:scale>
          <a:sx n="82" d="100"/>
          <a:sy n="82" d="100"/>
        </p:scale>
        <p:origin x="1733" y="72"/>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notesViewPr>
    <p:cSldViewPr>
      <p:cViewPr varScale="1">
        <p:scale>
          <a:sx n="88" d="100"/>
          <a:sy n="88" d="100"/>
        </p:scale>
        <p:origin x="-3870" y="-12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4CCFBE2-2B8D-499C-81C9-2CD5B3EB8E93}" type="datetimeFigureOut">
              <a:rPr lang="ko-KR" altLang="en-US" smtClean="0"/>
              <a:pPr/>
              <a:t>2025-01-04</a:t>
            </a:fld>
            <a:endParaRPr lang="ko-KR" altLang="en-US"/>
          </a:p>
        </p:txBody>
      </p:sp>
      <p:sp>
        <p:nvSpPr>
          <p:cNvPr id="4" name="바닥글 개체 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554DD7E-3179-445A-81DB-781C4554AFF2}" type="slidenum">
              <a:rPr lang="ko-KR" altLang="en-US" smtClean="0"/>
              <a:pPr/>
              <a:t>‹#›</a:t>
            </a:fld>
            <a:endParaRPr lang="ko-KR" altLang="en-US"/>
          </a:p>
        </p:txBody>
      </p:sp>
    </p:spTree>
    <p:extLst>
      <p:ext uri="{BB962C8B-B14F-4D97-AF65-F5344CB8AC3E}">
        <p14:creationId xmlns:p14="http://schemas.microsoft.com/office/powerpoint/2010/main" val="2469536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545AC5-813F-4ED1-B011-8EA17CB93331}" type="datetimeFigureOut">
              <a:rPr lang="ko-KR" altLang="en-US" smtClean="0"/>
              <a:pPr/>
              <a:t>2025-01-04</a:t>
            </a:fld>
            <a:endParaRPr lang="ko-KR" altLang="en-US"/>
          </a:p>
        </p:txBody>
      </p:sp>
      <p:sp>
        <p:nvSpPr>
          <p:cNvPr id="4" name="슬라이드 이미지 개체 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5504B90-27FD-422C-8CC6-2AADAD122D08}" type="slidenum">
              <a:rPr lang="ko-KR" altLang="en-US" smtClean="0"/>
              <a:pPr/>
              <a:t>‹#›</a:t>
            </a:fld>
            <a:endParaRPr lang="ko-KR" altLang="en-US"/>
          </a:p>
        </p:txBody>
      </p:sp>
    </p:spTree>
    <p:extLst>
      <p:ext uri="{BB962C8B-B14F-4D97-AF65-F5344CB8AC3E}">
        <p14:creationId xmlns:p14="http://schemas.microsoft.com/office/powerpoint/2010/main" val="26870727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A5504B90-27FD-422C-8CC6-2AADAD122D08}" type="slidenum">
              <a:rPr lang="ko-KR" altLang="en-US" smtClean="0"/>
              <a:pPr/>
              <a:t>1</a:t>
            </a:fld>
            <a:endParaRPr lang="ko-KR" altLang="en-US"/>
          </a:p>
        </p:txBody>
      </p:sp>
    </p:spTree>
    <p:extLst>
      <p:ext uri="{BB962C8B-B14F-4D97-AF65-F5344CB8AC3E}">
        <p14:creationId xmlns:p14="http://schemas.microsoft.com/office/powerpoint/2010/main" val="42199557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pic>
        <p:nvPicPr>
          <p:cNvPr id="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날짜 개체 틀 3"/>
          <p:cNvSpPr>
            <a:spLocks noGrp="1"/>
          </p:cNvSpPr>
          <p:nvPr>
            <p:ph type="dt" sz="half" idx="10"/>
          </p:nvPr>
        </p:nvSpPr>
        <p:spPr/>
        <p:txBody>
          <a:bodyPr/>
          <a:lstStyle>
            <a:lvl1pPr algn="l">
              <a:defRPr/>
            </a:lvl1pPr>
          </a:lstStyle>
          <a:p>
            <a:fld id="{ED3D6733-6F27-4404-AB51-585418F146E5}" type="datetimeFigureOut">
              <a:rPr lang="ko-KR" altLang="en-US" smtClean="0"/>
              <a:pPr/>
              <a:t>2025-01-04</a:t>
            </a:fld>
            <a:endParaRPr lang="ko-KR" altLang="en-US"/>
          </a:p>
        </p:txBody>
      </p:sp>
      <p:sp>
        <p:nvSpPr>
          <p:cNvPr id="5" name="바닥글 개체 틀 4"/>
          <p:cNvSpPr>
            <a:spLocks noGrp="1"/>
          </p:cNvSpPr>
          <p:nvPr>
            <p:ph type="ftr" sz="quarter" idx="11"/>
          </p:nvPr>
        </p:nvSpPr>
        <p:spPr/>
        <p:txBody>
          <a:bodyPr/>
          <a:lstStyle>
            <a:lvl1pPr algn="l">
              <a:defRPr/>
            </a:lvl1pPr>
          </a:lstStyle>
          <a:p>
            <a:endParaRPr lang="ko-KR" altLang="en-US"/>
          </a:p>
        </p:txBody>
      </p:sp>
      <p:sp>
        <p:nvSpPr>
          <p:cNvPr id="6" name="슬라이드 번호 개체 틀 5"/>
          <p:cNvSpPr>
            <a:spLocks noGrp="1"/>
          </p:cNvSpPr>
          <p:nvPr>
            <p:ph type="sldNum" sz="quarter" idx="12"/>
          </p:nvPr>
        </p:nvSpPr>
        <p:spPr/>
        <p:txBody>
          <a:bodyPr/>
          <a:lstStyle>
            <a:lvl1pPr algn="l">
              <a:defRPr/>
            </a:lvl1pPr>
          </a:lstStyle>
          <a:p>
            <a:fld id="{EE6BC638-39B7-4287-91A7-2A3DDA573295}" type="slidenum">
              <a:rPr lang="ko-KR" altLang="en-US" smtClean="0"/>
              <a:pPr/>
              <a:t>‹#›</a:t>
            </a:fld>
            <a:endParaRPr lang="ko-KR" altLang="en-US"/>
          </a:p>
        </p:txBody>
      </p:sp>
      <p:sp>
        <p:nvSpPr>
          <p:cNvPr id="9" name="제목 1"/>
          <p:cNvSpPr>
            <a:spLocks noGrp="1"/>
          </p:cNvSpPr>
          <p:nvPr>
            <p:ph type="ctrTitle"/>
          </p:nvPr>
        </p:nvSpPr>
        <p:spPr>
          <a:xfrm>
            <a:off x="0" y="836712"/>
            <a:ext cx="9144000" cy="1364712"/>
          </a:xfrm>
          <a:noFill/>
          <a:ln w="9525">
            <a:noFill/>
            <a:miter lim="800000"/>
            <a:headEnd/>
            <a:tailEnd/>
          </a:ln>
        </p:spPr>
        <p:txBody>
          <a:bodyPr vert="horz" wrap="square" lIns="91440" tIns="45720" rIns="91440" bIns="45720" numCol="1" rtlCol="0" anchor="ctr" anchorCtr="0" compatLnSpc="1">
            <a:prstTxWarp prst="textNoShape">
              <a:avLst/>
            </a:prstTxWarp>
            <a:noAutofit/>
          </a:bodyPr>
          <a:lstStyle>
            <a:lvl1pPr marL="0" indent="0" algn="ctr" defTabSz="914400" rtl="0" eaLnBrk="1" fontAlgn="base" latinLnBrk="1" hangingPunct="1">
              <a:lnSpc>
                <a:spcPct val="100000"/>
              </a:lnSpc>
              <a:spcBef>
                <a:spcPct val="0"/>
              </a:spcBef>
              <a:spcAft>
                <a:spcPct val="0"/>
              </a:spcAft>
              <a:buClr>
                <a:schemeClr val="hlink"/>
              </a:buClr>
              <a:buFont typeface="굴림체" pitchFamily="49" charset="-127"/>
              <a:buNone/>
              <a:defRPr lang="en-US" altLang="ko-KR" sz="5400" kern="1200" baseline="0" dirty="0">
                <a:solidFill>
                  <a:srgbClr val="06266B"/>
                </a:solidFill>
                <a:effectLst/>
                <a:latin typeface="+mj-lt"/>
                <a:ea typeface="맑은 고딕" pitchFamily="50" charset="-127"/>
                <a:cs typeface="+mj-cs"/>
              </a:defRPr>
            </a:lvl1pPr>
          </a:lstStyle>
          <a:p>
            <a:endParaRPr lang="en-US" altLang="ko-K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빈 화면">
    <p:bg>
      <p:bgPr>
        <a:solidFill>
          <a:schemeClr val="bg1"/>
        </a:solidFill>
        <a:effectLst/>
      </p:bgPr>
    </p:bg>
    <p:spTree>
      <p:nvGrpSpPr>
        <p:cNvPr id="1" name=""/>
        <p:cNvGrpSpPr/>
        <p:nvPr/>
      </p:nvGrpSpPr>
      <p:grpSpPr>
        <a:xfrm>
          <a:off x="0" y="0"/>
          <a:ext cx="0" cy="0"/>
          <a:chOff x="0" y="0"/>
          <a:chExt cx="0" cy="0"/>
        </a:xfrm>
      </p:grpSpPr>
      <p:pic>
        <p:nvPicPr>
          <p:cNvPr id="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날짜 개체 틀 1"/>
          <p:cNvSpPr>
            <a:spLocks noGrp="1"/>
          </p:cNvSpPr>
          <p:nvPr>
            <p:ph type="dt" sz="half" idx="10"/>
          </p:nvPr>
        </p:nvSpPr>
        <p:spPr/>
        <p:txBody>
          <a:bodyPr/>
          <a:lstStyle/>
          <a:p>
            <a:fld id="{ED3D6733-6F27-4404-AB51-585418F146E5}" type="datetimeFigureOut">
              <a:rPr lang="ko-KR" altLang="en-US" smtClean="0"/>
              <a:pPr/>
              <a:t>2025-01-04</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구역 머리글">
    <p:bg>
      <p:bgPr>
        <a:solidFill>
          <a:schemeClr val="bg1"/>
        </a:solidFill>
        <a:effectLst/>
      </p:bgPr>
    </p:bg>
    <p:spTree>
      <p:nvGrpSpPr>
        <p:cNvPr id="1" name=""/>
        <p:cNvGrpSpPr/>
        <p:nvPr/>
      </p:nvGrpSpPr>
      <p:grpSpPr>
        <a:xfrm>
          <a:off x="0" y="0"/>
          <a:ext cx="0" cy="0"/>
          <a:chOff x="0" y="0"/>
          <a:chExt cx="0" cy="0"/>
        </a:xfrm>
      </p:grpSpPr>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8" name="날짜 개체 틀 1"/>
          <p:cNvSpPr>
            <a:spLocks noGrp="1"/>
          </p:cNvSpPr>
          <p:nvPr>
            <p:ph type="dt" sz="half" idx="10"/>
          </p:nvPr>
        </p:nvSpPr>
        <p:spPr>
          <a:xfrm>
            <a:off x="457200" y="6429396"/>
            <a:ext cx="2133600" cy="292079"/>
          </a:xfrm>
        </p:spPr>
        <p:txBody>
          <a:bodyPr/>
          <a:lstStyle/>
          <a:p>
            <a:fld id="{ED3D6733-6F27-4404-AB51-585418F146E5}" type="datetimeFigureOut">
              <a:rPr lang="ko-KR" altLang="en-US" smtClean="0"/>
              <a:pPr/>
              <a:t>2025-01-04</a:t>
            </a:fld>
            <a:endParaRPr lang="ko-KR" altLang="en-US"/>
          </a:p>
        </p:txBody>
      </p:sp>
      <p:sp>
        <p:nvSpPr>
          <p:cNvPr id="9" name="바닥글 개체 틀 2"/>
          <p:cNvSpPr>
            <a:spLocks noGrp="1"/>
          </p:cNvSpPr>
          <p:nvPr>
            <p:ph type="ftr" sz="quarter" idx="11"/>
          </p:nvPr>
        </p:nvSpPr>
        <p:spPr>
          <a:xfrm>
            <a:off x="3124200" y="6429396"/>
            <a:ext cx="2895600" cy="292079"/>
          </a:xfrm>
        </p:spPr>
        <p:txBody>
          <a:bodyPr/>
          <a:lstStyle/>
          <a:p>
            <a:endParaRPr lang="ko-KR" altLang="en-US"/>
          </a:p>
        </p:txBody>
      </p:sp>
      <p:sp>
        <p:nvSpPr>
          <p:cNvPr id="10" name="슬라이드 번호 개체 틀 3"/>
          <p:cNvSpPr>
            <a:spLocks noGrp="1"/>
          </p:cNvSpPr>
          <p:nvPr>
            <p:ph type="sldNum" sz="quarter" idx="12"/>
          </p:nvPr>
        </p:nvSpPr>
        <p:spPr>
          <a:xfrm>
            <a:off x="6553200" y="6429396"/>
            <a:ext cx="2133600" cy="292079"/>
          </a:xfrm>
        </p:spPr>
        <p:txBody>
          <a:bodyPr/>
          <a:lstStyle/>
          <a:p>
            <a:fld id="{EE6BC638-39B7-4287-91A7-2A3DDA573295}" type="slidenum">
              <a:rPr lang="ko-KR" altLang="en-US" smtClean="0"/>
              <a:pPr/>
              <a:t>‹#›</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사용자 지정 레이아웃">
    <p:bg>
      <p:bgPr>
        <a:solidFill>
          <a:schemeClr val="bg1"/>
        </a:solidFill>
        <a:effectLst/>
      </p:bgPr>
    </p:bg>
    <p:spTree>
      <p:nvGrpSpPr>
        <p:cNvPr id="1" name=""/>
        <p:cNvGrpSpPr/>
        <p:nvPr/>
      </p:nvGrpSpPr>
      <p:grpSpPr>
        <a:xfrm>
          <a:off x="0" y="0"/>
          <a:ext cx="0" cy="0"/>
          <a:chOff x="0" y="0"/>
          <a:chExt cx="0" cy="0"/>
        </a:xfrm>
      </p:grpSpPr>
      <p:pic>
        <p:nvPicPr>
          <p:cNvPr id="4098"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제목 1"/>
          <p:cNvSpPr>
            <a:spLocks noGrp="1"/>
          </p:cNvSpPr>
          <p:nvPr>
            <p:ph type="title"/>
          </p:nvPr>
        </p:nvSpPr>
        <p:spPr>
          <a:xfrm>
            <a:off x="179512" y="87429"/>
            <a:ext cx="7661196" cy="796908"/>
          </a:xfrm>
        </p:spPr>
        <p:txBody>
          <a:bodyPr vert="horz" lIns="91440" tIns="45720" rIns="91440" bIns="45720" rtlCol="0" anchor="ctr">
            <a:normAutofit/>
          </a:bodyPr>
          <a:lstStyle>
            <a:lvl1pPr algn="l" defTabSz="914400" rtl="0" eaLnBrk="1" latinLnBrk="1" hangingPunct="1">
              <a:spcBef>
                <a:spcPct val="0"/>
              </a:spcBef>
              <a:buNone/>
              <a:defRPr lang="ko-KR" altLang="en-US" sz="2500" b="1" kern="1200" baseline="0" dirty="0">
                <a:solidFill>
                  <a:schemeClr val="bg1"/>
                </a:solidFill>
                <a:effectLst/>
                <a:latin typeface="+mj-lt"/>
                <a:ea typeface="맑은 고딕" pitchFamily="50" charset="-127"/>
                <a:cs typeface="+mj-cs"/>
              </a:defRPr>
            </a:lvl1pPr>
          </a:lstStyle>
          <a:p>
            <a:r>
              <a:rPr lang="ko-KR" altLang="en-US" dirty="0"/>
              <a:t>마스터 제목 스타일 편집</a:t>
            </a:r>
          </a:p>
        </p:txBody>
      </p:sp>
      <p:sp>
        <p:nvSpPr>
          <p:cNvPr id="3" name="날짜 개체 틀 2"/>
          <p:cNvSpPr>
            <a:spLocks noGrp="1"/>
          </p:cNvSpPr>
          <p:nvPr>
            <p:ph type="dt" sz="half" idx="10"/>
          </p:nvPr>
        </p:nvSpPr>
        <p:spPr/>
        <p:txBody>
          <a:bodyPr/>
          <a:lstStyle/>
          <a:p>
            <a:fld id="{ED3D6733-6F27-4404-AB51-585418F146E5}" type="datetimeFigureOut">
              <a:rPr lang="ko-KR" altLang="en-US" smtClean="0"/>
              <a:pPr/>
              <a:t>2025-01-04</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EE6BC638-39B7-4287-91A7-2A3DDA573295}" type="slidenum">
              <a:rPr lang="ko-KR" altLang="en-US" smtClean="0"/>
              <a:pPr/>
              <a:t>‹#›</a:t>
            </a:fld>
            <a:endParaRPr lang="ko-KR" altLang="en-US"/>
          </a:p>
        </p:txBody>
      </p:sp>
      <p:sp>
        <p:nvSpPr>
          <p:cNvPr id="6" name="내용 개체 틀 2"/>
          <p:cNvSpPr>
            <a:spLocks noGrp="1"/>
          </p:cNvSpPr>
          <p:nvPr>
            <p:ph idx="1"/>
          </p:nvPr>
        </p:nvSpPr>
        <p:spPr>
          <a:xfrm>
            <a:off x="395536" y="1412776"/>
            <a:ext cx="8402525" cy="4953694"/>
          </a:xfrm>
        </p:spPr>
        <p:txBody>
          <a:bodyPr>
            <a:normAutofit/>
          </a:bodyPr>
          <a:lstStyle>
            <a:lvl1pPr algn="l">
              <a:buNone/>
              <a:defRPr sz="1600" i="1" baseline="0">
                <a:solidFill>
                  <a:schemeClr val="tx1">
                    <a:lumMod val="65000"/>
                    <a:lumOff val="35000"/>
                  </a:schemeClr>
                </a:solidFill>
                <a:latin typeface="+mj-lt"/>
                <a:ea typeface="맑은 고딕" pitchFamily="50" charset="-127"/>
              </a:defRPr>
            </a:lvl1pPr>
            <a:lvl2pPr algn="l">
              <a:buNone/>
              <a:defRPr sz="1600" i="1" baseline="0">
                <a:solidFill>
                  <a:schemeClr val="tx1">
                    <a:lumMod val="65000"/>
                    <a:lumOff val="35000"/>
                  </a:schemeClr>
                </a:solidFill>
                <a:latin typeface="+mj-lt"/>
                <a:ea typeface="맑은 고딕" pitchFamily="50" charset="-127"/>
              </a:defRPr>
            </a:lvl2pPr>
            <a:lvl3pPr algn="l">
              <a:buNone/>
              <a:defRPr sz="1600" i="1" baseline="0">
                <a:solidFill>
                  <a:schemeClr val="tx1">
                    <a:lumMod val="65000"/>
                    <a:lumOff val="35000"/>
                  </a:schemeClr>
                </a:solidFill>
                <a:latin typeface="+mj-lt"/>
                <a:ea typeface="맑은 고딕" pitchFamily="50" charset="-127"/>
              </a:defRPr>
            </a:lvl3pPr>
            <a:lvl4pPr algn="l">
              <a:buNone/>
              <a:defRPr sz="1600" i="1" baseline="0">
                <a:solidFill>
                  <a:schemeClr val="tx1">
                    <a:lumMod val="65000"/>
                    <a:lumOff val="35000"/>
                  </a:schemeClr>
                </a:solidFill>
                <a:latin typeface="+mj-lt"/>
                <a:ea typeface="맑은 고딕" pitchFamily="50" charset="-127"/>
              </a:defRPr>
            </a:lvl4pPr>
            <a:lvl5pPr algn="l">
              <a:buNone/>
              <a:defRPr sz="1600" i="1" baseline="0">
                <a:solidFill>
                  <a:schemeClr val="tx1">
                    <a:lumMod val="65000"/>
                    <a:lumOff val="35000"/>
                  </a:schemeClr>
                </a:solidFill>
                <a:latin typeface="+mj-lt"/>
                <a:ea typeface="맑은 고딕" pitchFamily="50" charset="-127"/>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제목 및 내용">
    <p:bg>
      <p:bgPr>
        <a:solidFill>
          <a:schemeClr val="bg1"/>
        </a:solidFill>
        <a:effectLst/>
      </p:bgPr>
    </p:bg>
    <p:spTree>
      <p:nvGrpSpPr>
        <p:cNvPr id="1" name=""/>
        <p:cNvGrpSpPr/>
        <p:nvPr/>
      </p:nvGrpSpPr>
      <p:grpSpPr>
        <a:xfrm>
          <a:off x="0" y="0"/>
          <a:ext cx="0" cy="0"/>
          <a:chOff x="0" y="0"/>
          <a:chExt cx="0" cy="0"/>
        </a:xfrm>
      </p:grpSpPr>
      <p:pic>
        <p:nvPicPr>
          <p:cNvPr id="512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날짜 개체 틀 3"/>
          <p:cNvSpPr>
            <a:spLocks noGrp="1"/>
          </p:cNvSpPr>
          <p:nvPr>
            <p:ph type="dt" sz="half" idx="10"/>
          </p:nvPr>
        </p:nvSpPr>
        <p:spPr>
          <a:xfrm>
            <a:off x="457200" y="6500834"/>
            <a:ext cx="2133600" cy="220641"/>
          </a:xfrm>
        </p:spPr>
        <p:txBody>
          <a:bodyPr/>
          <a:lstStyle/>
          <a:p>
            <a:fld id="{ED3D6733-6F27-4404-AB51-585418F146E5}" type="datetimeFigureOut">
              <a:rPr lang="ko-KR" altLang="en-US" smtClean="0"/>
              <a:pPr/>
              <a:t>2025-01-04</a:t>
            </a:fld>
            <a:endParaRPr lang="ko-KR" altLang="en-US"/>
          </a:p>
        </p:txBody>
      </p:sp>
      <p:sp>
        <p:nvSpPr>
          <p:cNvPr id="5" name="바닥글 개체 틀 4"/>
          <p:cNvSpPr>
            <a:spLocks noGrp="1"/>
          </p:cNvSpPr>
          <p:nvPr>
            <p:ph type="ftr" sz="quarter" idx="11"/>
          </p:nvPr>
        </p:nvSpPr>
        <p:spPr>
          <a:xfrm>
            <a:off x="3124200" y="6500834"/>
            <a:ext cx="2895600" cy="220641"/>
          </a:xfrm>
        </p:spPr>
        <p:txBody>
          <a:bodyPr/>
          <a:lstStyle/>
          <a:p>
            <a:endParaRPr lang="ko-KR" altLang="en-US"/>
          </a:p>
        </p:txBody>
      </p:sp>
      <p:sp>
        <p:nvSpPr>
          <p:cNvPr id="6" name="슬라이드 번호 개체 틀 5"/>
          <p:cNvSpPr>
            <a:spLocks noGrp="1"/>
          </p:cNvSpPr>
          <p:nvPr>
            <p:ph type="sldNum" sz="quarter" idx="12"/>
          </p:nvPr>
        </p:nvSpPr>
        <p:spPr>
          <a:xfrm>
            <a:off x="6553200" y="6500834"/>
            <a:ext cx="2133600" cy="220641"/>
          </a:xfrm>
        </p:spPr>
        <p:txBody>
          <a:bodyPr/>
          <a:lstStyle/>
          <a:p>
            <a:fld id="{EE6BC638-39B7-4287-91A7-2A3DDA573295}" type="slidenum">
              <a:rPr lang="ko-KR" altLang="en-US" smtClean="0"/>
              <a:pPr/>
              <a:t>‹#›</a:t>
            </a:fld>
            <a:endParaRPr lang="ko-KR" altLang="en-US"/>
          </a:p>
        </p:txBody>
      </p:sp>
      <p:sp>
        <p:nvSpPr>
          <p:cNvPr id="11" name="내용 개체 틀 2"/>
          <p:cNvSpPr>
            <a:spLocks noGrp="1"/>
          </p:cNvSpPr>
          <p:nvPr>
            <p:ph idx="1"/>
          </p:nvPr>
        </p:nvSpPr>
        <p:spPr>
          <a:xfrm>
            <a:off x="395536" y="1412776"/>
            <a:ext cx="8402525" cy="4953694"/>
          </a:xfrm>
        </p:spPr>
        <p:txBody>
          <a:bodyPr>
            <a:normAutofit/>
          </a:bodyPr>
          <a:lstStyle>
            <a:lvl1pPr algn="l">
              <a:buNone/>
              <a:defRPr sz="1600" i="1" baseline="0">
                <a:solidFill>
                  <a:schemeClr val="tx1">
                    <a:lumMod val="65000"/>
                    <a:lumOff val="35000"/>
                  </a:schemeClr>
                </a:solidFill>
                <a:latin typeface="+mj-lt"/>
                <a:ea typeface="맑은 고딕" pitchFamily="50" charset="-127"/>
              </a:defRPr>
            </a:lvl1pPr>
            <a:lvl2pPr algn="l">
              <a:buNone/>
              <a:defRPr sz="1600" i="1" baseline="0">
                <a:solidFill>
                  <a:schemeClr val="tx1">
                    <a:lumMod val="65000"/>
                    <a:lumOff val="35000"/>
                  </a:schemeClr>
                </a:solidFill>
                <a:latin typeface="+mj-lt"/>
                <a:ea typeface="맑은 고딕" pitchFamily="50" charset="-127"/>
              </a:defRPr>
            </a:lvl2pPr>
            <a:lvl3pPr algn="l">
              <a:buNone/>
              <a:defRPr sz="1600" i="1" baseline="0">
                <a:solidFill>
                  <a:schemeClr val="tx1">
                    <a:lumMod val="65000"/>
                    <a:lumOff val="35000"/>
                  </a:schemeClr>
                </a:solidFill>
                <a:latin typeface="+mj-lt"/>
                <a:ea typeface="맑은 고딕" pitchFamily="50" charset="-127"/>
              </a:defRPr>
            </a:lvl3pPr>
            <a:lvl4pPr algn="l">
              <a:buNone/>
              <a:defRPr sz="1600" i="1" baseline="0">
                <a:solidFill>
                  <a:schemeClr val="tx1">
                    <a:lumMod val="65000"/>
                    <a:lumOff val="35000"/>
                  </a:schemeClr>
                </a:solidFill>
                <a:latin typeface="+mj-lt"/>
                <a:ea typeface="맑은 고딕" pitchFamily="50" charset="-127"/>
              </a:defRPr>
            </a:lvl4pPr>
            <a:lvl5pPr algn="l">
              <a:buNone/>
              <a:defRPr sz="1600" i="1" baseline="0">
                <a:solidFill>
                  <a:schemeClr val="tx1">
                    <a:lumMod val="65000"/>
                    <a:lumOff val="35000"/>
                  </a:schemeClr>
                </a:solidFill>
                <a:latin typeface="+mj-lt"/>
                <a:ea typeface="맑은 고딕" pitchFamily="50" charset="-127"/>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8" name="제목 1"/>
          <p:cNvSpPr>
            <a:spLocks noGrp="1"/>
          </p:cNvSpPr>
          <p:nvPr>
            <p:ph type="title"/>
          </p:nvPr>
        </p:nvSpPr>
        <p:spPr>
          <a:xfrm>
            <a:off x="179512" y="87429"/>
            <a:ext cx="7661196" cy="796908"/>
          </a:xfrm>
        </p:spPr>
        <p:txBody>
          <a:bodyPr vert="horz" lIns="91440" tIns="45720" rIns="91440" bIns="45720" rtlCol="0" anchor="ctr">
            <a:normAutofit/>
          </a:bodyPr>
          <a:lstStyle>
            <a:lvl1pPr algn="l" defTabSz="914400" rtl="0" eaLnBrk="1" latinLnBrk="1" hangingPunct="1">
              <a:spcBef>
                <a:spcPct val="0"/>
              </a:spcBef>
              <a:buNone/>
              <a:defRPr lang="ko-KR" altLang="en-US" sz="2500" b="1" kern="1200" baseline="0" dirty="0">
                <a:solidFill>
                  <a:srgbClr val="06266B"/>
                </a:solidFill>
                <a:effectLst/>
                <a:latin typeface="+mj-lt"/>
                <a:ea typeface="맑은 고딕" pitchFamily="50" charset="-127"/>
                <a:cs typeface="+mj-cs"/>
              </a:defRPr>
            </a:lvl1pPr>
          </a:lstStyle>
          <a:p>
            <a:r>
              <a:rPr lang="ko-KR" altLang="en-US" dirty="0"/>
              <a:t>마스터 제목 스타일 편집</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사용자 지정 레이아웃">
    <p:bg>
      <p:bgPr>
        <a:solidFill>
          <a:schemeClr val="bg1"/>
        </a:solidFill>
        <a:effectLst/>
      </p:bgPr>
    </p:bg>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날짜 개체 틀 2"/>
          <p:cNvSpPr>
            <a:spLocks noGrp="1"/>
          </p:cNvSpPr>
          <p:nvPr>
            <p:ph type="dt" sz="half" idx="10"/>
          </p:nvPr>
        </p:nvSpPr>
        <p:spPr/>
        <p:txBody>
          <a:bodyPr/>
          <a:lstStyle/>
          <a:p>
            <a:fld id="{ED3D6733-6F27-4404-AB51-585418F146E5}" type="datetimeFigureOut">
              <a:rPr lang="ko-KR" altLang="en-US" smtClean="0"/>
              <a:pPr/>
              <a:t>2025-01-04</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EE6BC638-39B7-4287-91A7-2A3DDA573295}" type="slidenum">
              <a:rPr lang="ko-KR" altLang="en-US" smtClean="0"/>
              <a:pPr/>
              <a:t>‹#›</a:t>
            </a:fld>
            <a:endParaRPr lang="ko-KR" altLang="en-US"/>
          </a:p>
        </p:txBody>
      </p:sp>
      <p:sp>
        <p:nvSpPr>
          <p:cNvPr id="6" name="제목 1"/>
          <p:cNvSpPr>
            <a:spLocks noGrp="1"/>
          </p:cNvSpPr>
          <p:nvPr>
            <p:ph type="ctrTitle"/>
          </p:nvPr>
        </p:nvSpPr>
        <p:spPr>
          <a:xfrm>
            <a:off x="1927148" y="2708919"/>
            <a:ext cx="5741195" cy="1440161"/>
          </a:xfrm>
          <a:noFill/>
          <a:ln w="9525">
            <a:noFill/>
            <a:miter lim="800000"/>
            <a:headEnd/>
            <a:tailEnd/>
          </a:ln>
        </p:spPr>
        <p:txBody>
          <a:bodyPr vert="horz" wrap="square" lIns="91440" tIns="45720" rIns="91440" bIns="45720" numCol="1" rtlCol="0" anchor="ctr" anchorCtr="0" compatLnSpc="1">
            <a:prstTxWarp prst="textNoShape">
              <a:avLst/>
            </a:prstTxWarp>
            <a:noAutofit/>
          </a:bodyPr>
          <a:lstStyle>
            <a:lvl1pPr marL="0" indent="0" algn="ctr" defTabSz="914400" rtl="0" eaLnBrk="1" fontAlgn="base" latinLnBrk="1" hangingPunct="1">
              <a:lnSpc>
                <a:spcPct val="100000"/>
              </a:lnSpc>
              <a:spcBef>
                <a:spcPct val="0"/>
              </a:spcBef>
              <a:spcAft>
                <a:spcPct val="0"/>
              </a:spcAft>
              <a:buClr>
                <a:schemeClr val="hlink"/>
              </a:buClr>
              <a:buFont typeface="굴림체" pitchFamily="49" charset="-127"/>
              <a:buNone/>
              <a:defRPr lang="ko-KR" altLang="en-US" sz="7000" kern="1200" baseline="0" dirty="0">
                <a:solidFill>
                  <a:srgbClr val="06266B"/>
                </a:solidFill>
                <a:effectLst/>
                <a:latin typeface="+mj-lt"/>
                <a:ea typeface="맑은 고딕" pitchFamily="50" charset="-127"/>
                <a:cs typeface="+mj-cs"/>
              </a:defRPr>
            </a:lvl1pPr>
          </a:lstStyle>
          <a:p>
            <a:endParaRPr lang="en-US" altLang="ko-K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57200" y="19026"/>
            <a:ext cx="8229600" cy="796908"/>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p:cNvSpPr>
            <a:spLocks noGrp="1"/>
          </p:cNvSpPr>
          <p:nvPr>
            <p:ph type="body" idx="1"/>
          </p:nvPr>
        </p:nvSpPr>
        <p:spPr>
          <a:xfrm>
            <a:off x="457200" y="1062021"/>
            <a:ext cx="8229600" cy="5286412"/>
          </a:xfrm>
          <a:prstGeom prst="rect">
            <a:avLst/>
          </a:prstGeom>
        </p:spPr>
        <p:txBody>
          <a:bodyPr vert="horz" lIns="91440" tIns="45720" rIns="91440" bIns="45720" rtlCol="0">
            <a:normAutofit/>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날짜 개체 틀 3"/>
          <p:cNvSpPr>
            <a:spLocks noGrp="1"/>
          </p:cNvSpPr>
          <p:nvPr>
            <p:ph type="dt" sz="half" idx="2"/>
          </p:nvPr>
        </p:nvSpPr>
        <p:spPr>
          <a:xfrm>
            <a:off x="457200" y="6429396"/>
            <a:ext cx="2133600" cy="292079"/>
          </a:xfrm>
          <a:prstGeom prst="rect">
            <a:avLst/>
          </a:prstGeom>
        </p:spPr>
        <p:txBody>
          <a:bodyPr vert="horz" lIns="91440" tIns="45720" rIns="91440" bIns="45720" rtlCol="0" anchor="ctr"/>
          <a:lstStyle>
            <a:lvl1pPr algn="l">
              <a:defRPr sz="1200">
                <a:solidFill>
                  <a:schemeClr val="tx1">
                    <a:tint val="75000"/>
                  </a:schemeClr>
                </a:solidFill>
              </a:defRPr>
            </a:lvl1pPr>
          </a:lstStyle>
          <a:p>
            <a:fld id="{ED3D6733-6F27-4404-AB51-585418F146E5}" type="datetimeFigureOut">
              <a:rPr lang="ko-KR" altLang="en-US" smtClean="0"/>
              <a:pPr/>
              <a:t>2025-01-04</a:t>
            </a:fld>
            <a:endParaRPr lang="ko-KR" altLang="en-US"/>
          </a:p>
        </p:txBody>
      </p:sp>
      <p:sp>
        <p:nvSpPr>
          <p:cNvPr id="5" name="바닥글 개체 틀 4"/>
          <p:cNvSpPr>
            <a:spLocks noGrp="1"/>
          </p:cNvSpPr>
          <p:nvPr>
            <p:ph type="ftr" sz="quarter" idx="3"/>
          </p:nvPr>
        </p:nvSpPr>
        <p:spPr>
          <a:xfrm>
            <a:off x="3124200" y="6429396"/>
            <a:ext cx="2895600" cy="292079"/>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6553200" y="6429396"/>
            <a:ext cx="2133600" cy="292079"/>
          </a:xfrm>
          <a:prstGeom prst="rect">
            <a:avLst/>
          </a:prstGeom>
        </p:spPr>
        <p:txBody>
          <a:bodyPr vert="horz" lIns="91440" tIns="45720" rIns="91440" bIns="45720" rtlCol="0" anchor="ctr"/>
          <a:lstStyle>
            <a:lvl1pPr algn="r">
              <a:defRPr sz="1200">
                <a:solidFill>
                  <a:schemeClr val="tx1">
                    <a:tint val="75000"/>
                  </a:schemeClr>
                </a:solidFill>
              </a:defRPr>
            </a:lvl1pPr>
          </a:lstStyle>
          <a:p>
            <a:fld id="{EE6BC638-39B7-4287-91A7-2A3DDA573295}" type="slidenum">
              <a:rPr lang="ko-KR" altLang="en-US" smtClean="0"/>
              <a:pPr/>
              <a:t>‹#›</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5" r:id="rId2"/>
    <p:sldLayoutId id="2147483651" r:id="rId3"/>
    <p:sldLayoutId id="2147483656" r:id="rId4"/>
    <p:sldLayoutId id="2147483650" r:id="rId5"/>
    <p:sldLayoutId id="2147483657" r:id="rId6"/>
  </p:sldLayoutIdLst>
  <p:txStyles>
    <p:titleStyle>
      <a:lvl1pPr algn="l" defTabSz="914400" rtl="0" eaLnBrk="1" latinLnBrk="1" hangingPunct="1">
        <a:spcBef>
          <a:spcPct val="0"/>
        </a:spcBef>
        <a:buNone/>
        <a:defRPr lang="ko-KR" altLang="en-US" sz="3500" kern="1200">
          <a:solidFill>
            <a:sysClr val="windowText" lastClr="000000"/>
          </a:solidFill>
          <a:latin typeface="맑은 고딕" pitchFamily="50" charset="-127"/>
          <a:ea typeface="맑은 고딕" pitchFamily="50" charset="-127"/>
          <a:cs typeface="+mj-cs"/>
        </a:defRPr>
      </a:lvl1pPr>
    </p:titleStyle>
    <p:bodyStyle>
      <a:lvl1pPr marL="342900" indent="-342900" algn="l" defTabSz="914400" rtl="0" eaLnBrk="1" latinLnBrk="1" hangingPunct="1">
        <a:spcBef>
          <a:spcPct val="20000"/>
        </a:spcBef>
        <a:buFont typeface="Arial" pitchFamily="34" charset="0"/>
        <a:buChar char="•"/>
        <a:defRPr lang="ko-KR" altLang="en-US" sz="2500" kern="1200" smtClean="0">
          <a:solidFill>
            <a:schemeClr val="tx1"/>
          </a:solidFill>
          <a:latin typeface="맑은 고딕" pitchFamily="50" charset="-127"/>
          <a:ea typeface="맑은 고딕" pitchFamily="50" charset="-127"/>
          <a:cs typeface="+mn-cs"/>
        </a:defRPr>
      </a:lvl1pPr>
      <a:lvl2pPr marL="742950" indent="-285750" algn="l" defTabSz="914400" rtl="0" eaLnBrk="1" latinLnBrk="1" hangingPunct="1">
        <a:spcBef>
          <a:spcPct val="20000"/>
        </a:spcBef>
        <a:buFont typeface="Arial" pitchFamily="34" charset="0"/>
        <a:buChar char="–"/>
        <a:defRPr lang="ko-KR" altLang="en-US" sz="1800" kern="1200" smtClean="0">
          <a:solidFill>
            <a:schemeClr val="tx1"/>
          </a:solidFill>
          <a:latin typeface="맑은 고딕" pitchFamily="50" charset="-127"/>
          <a:ea typeface="맑은 고딕" pitchFamily="50" charset="-127"/>
          <a:cs typeface="+mn-cs"/>
        </a:defRPr>
      </a:lvl2pPr>
      <a:lvl3pPr marL="1143000" indent="-228600" algn="l" defTabSz="914400" rtl="0" eaLnBrk="1" latinLnBrk="1" hangingPunct="1">
        <a:spcBef>
          <a:spcPct val="20000"/>
        </a:spcBef>
        <a:buFont typeface="Arial" pitchFamily="34" charset="0"/>
        <a:buChar char="•"/>
        <a:defRPr lang="ko-KR" altLang="en-US" sz="1800" kern="1200" smtClean="0">
          <a:solidFill>
            <a:schemeClr val="tx1"/>
          </a:solidFill>
          <a:latin typeface="맑은 고딕" pitchFamily="50" charset="-127"/>
          <a:ea typeface="맑은 고딕" pitchFamily="50" charset="-127"/>
          <a:cs typeface="+mn-cs"/>
        </a:defRPr>
      </a:lvl3pPr>
      <a:lvl4pPr marL="1600200" indent="-228600" algn="l" defTabSz="914400" rtl="0" eaLnBrk="1" latinLnBrk="1" hangingPunct="1">
        <a:spcBef>
          <a:spcPct val="20000"/>
        </a:spcBef>
        <a:buFont typeface="Arial" pitchFamily="34" charset="0"/>
        <a:buChar char="–"/>
        <a:defRPr lang="ko-KR" altLang="en-US" sz="1800" kern="1200" smtClean="0">
          <a:solidFill>
            <a:schemeClr val="tx1"/>
          </a:solidFill>
          <a:latin typeface="맑은 고딕" pitchFamily="50" charset="-127"/>
          <a:ea typeface="맑은 고딕" pitchFamily="50" charset="-127"/>
          <a:cs typeface="+mn-cs"/>
        </a:defRPr>
      </a:lvl4pPr>
      <a:lvl5pPr marL="2057400" indent="-228600" algn="l" defTabSz="914400" rtl="0" eaLnBrk="1" latinLnBrk="1" hangingPunct="1">
        <a:spcBef>
          <a:spcPct val="20000"/>
        </a:spcBef>
        <a:buFont typeface="Arial" pitchFamily="34" charset="0"/>
        <a:buChar char="»"/>
        <a:defRPr lang="ko-KR" altLang="en-US" sz="1800" kern="1200">
          <a:solidFill>
            <a:schemeClr val="tx1"/>
          </a:solidFill>
          <a:latin typeface="맑은 고딕" pitchFamily="50" charset="-127"/>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p:cNvSpPr>
            <a:spLocks noGrp="1"/>
          </p:cNvSpPr>
          <p:nvPr>
            <p:ph type="ctrTitle"/>
          </p:nvPr>
        </p:nvSpPr>
        <p:spPr>
          <a:xfrm>
            <a:off x="0" y="260648"/>
            <a:ext cx="9144000" cy="2232248"/>
          </a:xfrm>
        </p:spPr>
        <p:txBody>
          <a:bodyPr/>
          <a:lstStyle/>
          <a:p>
            <a:r>
              <a:rPr lang="en-US" altLang="ko-KR" sz="6000" b="1" dirty="0">
                <a:latin typeface="Algerian" panose="04020705040A02060702" pitchFamily="82" charset="0"/>
              </a:rPr>
              <a:t>HIGH CLOUD AIRLINE ANALYSIS</a:t>
            </a:r>
            <a:endParaRPr lang="ko-KR" altLang="en-US" sz="6000" b="1" dirty="0">
              <a:latin typeface="Algerian" panose="04020705040A02060702" pitchFamily="8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p:cNvSpPr txBox="1"/>
          <p:nvPr/>
        </p:nvSpPr>
        <p:spPr>
          <a:xfrm rot="20516623">
            <a:off x="-512035" y="2858336"/>
            <a:ext cx="2983409" cy="553998"/>
          </a:xfrm>
          <a:prstGeom prst="rect">
            <a:avLst/>
          </a:prstGeom>
          <a:noFill/>
        </p:spPr>
        <p:txBody>
          <a:bodyPr wrap="square" rtlCol="0" anchor="ctr">
            <a:spAutoFit/>
          </a:bodyPr>
          <a:lstStyle/>
          <a:p>
            <a:pPr algn="ctr"/>
            <a:r>
              <a:rPr lang="en-US" altLang="ko-KR" sz="3000" b="1" dirty="0">
                <a:solidFill>
                  <a:schemeClr val="bg1"/>
                </a:solidFill>
                <a:effectLst>
                  <a:outerShdw blurRad="63500" algn="ctr" rotWithShape="0">
                    <a:prstClr val="black">
                      <a:alpha val="18000"/>
                    </a:prstClr>
                  </a:outerShdw>
                </a:effectLst>
                <a:latin typeface="+mj-lt"/>
                <a:ea typeface="맑은 고딕" pitchFamily="50" charset="-127"/>
              </a:rPr>
              <a:t>CONTENTS</a:t>
            </a:r>
            <a:endParaRPr lang="ko-KR" altLang="en-US" sz="3000" b="1" dirty="0">
              <a:solidFill>
                <a:schemeClr val="bg1"/>
              </a:solidFill>
              <a:effectLst>
                <a:outerShdw blurRad="63500" algn="ctr" rotWithShape="0">
                  <a:prstClr val="black">
                    <a:alpha val="18000"/>
                  </a:prstClr>
                </a:outerShdw>
              </a:effectLst>
              <a:latin typeface="+mj-lt"/>
              <a:ea typeface="맑은 고딕" pitchFamily="50" charset="-127"/>
            </a:endParaRPr>
          </a:p>
        </p:txBody>
      </p:sp>
      <p:grpSp>
        <p:nvGrpSpPr>
          <p:cNvPr id="9" name="그룹 8"/>
          <p:cNvGrpSpPr/>
          <p:nvPr/>
        </p:nvGrpSpPr>
        <p:grpSpPr>
          <a:xfrm>
            <a:off x="4712221" y="1855788"/>
            <a:ext cx="3936479" cy="638636"/>
            <a:chOff x="4712221" y="1855788"/>
            <a:chExt cx="3936479" cy="638636"/>
          </a:xfrm>
        </p:grpSpPr>
        <p:sp>
          <p:nvSpPr>
            <p:cNvPr id="87" name="Text Box 5"/>
            <p:cNvSpPr txBox="1">
              <a:spLocks noChangeArrowheads="1"/>
            </p:cNvSpPr>
            <p:nvPr/>
          </p:nvSpPr>
          <p:spPr bwMode="auto">
            <a:xfrm>
              <a:off x="5220694" y="1855788"/>
              <a:ext cx="2952750" cy="584775"/>
            </a:xfrm>
            <a:prstGeom prst="rect">
              <a:avLst/>
            </a:prstGeom>
            <a:noFill/>
            <a:ln w="9525">
              <a:noFill/>
              <a:miter lim="800000"/>
              <a:headEnd/>
              <a:tailEnd/>
            </a:ln>
          </p:spPr>
          <p:txBody>
            <a:bodyPr>
              <a:spAutoFit/>
            </a:bodyPr>
            <a:lstStyle/>
            <a:p>
              <a:pPr>
                <a:defRPr/>
              </a:pPr>
              <a:r>
                <a:rPr lang="en-US" altLang="ko-KR" sz="3200" b="1" dirty="0">
                  <a:solidFill>
                    <a:srgbClr val="337BA9"/>
                  </a:solidFill>
                  <a:latin typeface="+mj-lt"/>
                  <a:ea typeface="맑은 고딕" pitchFamily="50" charset="-127"/>
                </a:rPr>
                <a:t>Introduction</a:t>
              </a:r>
            </a:p>
          </p:txBody>
        </p:sp>
        <p:sp>
          <p:nvSpPr>
            <p:cNvPr id="89" name="TextBox 13"/>
            <p:cNvSpPr txBox="1">
              <a:spLocks noChangeArrowheads="1"/>
            </p:cNvSpPr>
            <p:nvPr/>
          </p:nvSpPr>
          <p:spPr bwMode="auto">
            <a:xfrm>
              <a:off x="4712221" y="2017370"/>
              <a:ext cx="508473" cy="477054"/>
            </a:xfrm>
            <a:prstGeom prst="rect">
              <a:avLst/>
            </a:prstGeom>
            <a:noFill/>
            <a:ln w="9525">
              <a:noFill/>
              <a:miter lim="800000"/>
              <a:headEnd/>
              <a:tailEnd/>
            </a:ln>
          </p:spPr>
          <p:txBody>
            <a:bodyPr wrap="none">
              <a:spAutoFit/>
            </a:bodyPr>
            <a:lstStyle/>
            <a:p>
              <a:r>
                <a:rPr lang="en-US" altLang="ko-KR" sz="2500" b="1" dirty="0">
                  <a:solidFill>
                    <a:srgbClr val="06266B"/>
                  </a:solidFill>
                  <a:latin typeface="+mj-lt"/>
                  <a:ea typeface="맑은 고딕" pitchFamily="50" charset="-127"/>
                </a:rPr>
                <a:t>01</a:t>
              </a:r>
              <a:endParaRPr lang="ko-KR" altLang="en-US" sz="2500" b="1" dirty="0">
                <a:solidFill>
                  <a:srgbClr val="06266B"/>
                </a:solidFill>
                <a:latin typeface="+mj-lt"/>
                <a:ea typeface="맑은 고딕" pitchFamily="50" charset="-127"/>
              </a:endParaRPr>
            </a:p>
          </p:txBody>
        </p:sp>
        <p:cxnSp>
          <p:nvCxnSpPr>
            <p:cNvPr id="59" name="직선 연결선 58"/>
            <p:cNvCxnSpPr>
              <a:cxnSpLocks/>
            </p:cNvCxnSpPr>
            <p:nvPr/>
          </p:nvCxnSpPr>
          <p:spPr>
            <a:xfrm>
              <a:off x="5227859" y="2365723"/>
              <a:ext cx="3420841" cy="0"/>
            </a:xfrm>
            <a:prstGeom prst="line">
              <a:avLst/>
            </a:prstGeom>
            <a:ln>
              <a:solidFill>
                <a:schemeClr val="bg1">
                  <a:lumMod val="65000"/>
                </a:schemeClr>
              </a:solidFill>
              <a:tailEnd type="oval" w="sm" len="sm"/>
            </a:ln>
          </p:spPr>
          <p:style>
            <a:lnRef idx="1">
              <a:schemeClr val="accent1"/>
            </a:lnRef>
            <a:fillRef idx="0">
              <a:schemeClr val="accent1"/>
            </a:fillRef>
            <a:effectRef idx="0">
              <a:schemeClr val="accent1"/>
            </a:effectRef>
            <a:fontRef idx="minor">
              <a:schemeClr val="tx1"/>
            </a:fontRef>
          </p:style>
        </p:cxnSp>
      </p:grpSp>
      <p:grpSp>
        <p:nvGrpSpPr>
          <p:cNvPr id="8" name="그룹 7"/>
          <p:cNvGrpSpPr/>
          <p:nvPr/>
        </p:nvGrpSpPr>
        <p:grpSpPr>
          <a:xfrm>
            <a:off x="4705390" y="2657842"/>
            <a:ext cx="3943310" cy="660493"/>
            <a:chOff x="4705390" y="2657842"/>
            <a:chExt cx="3943310" cy="660493"/>
          </a:xfrm>
        </p:grpSpPr>
        <p:sp>
          <p:nvSpPr>
            <p:cNvPr id="37" name="Text Box 5"/>
            <p:cNvSpPr txBox="1">
              <a:spLocks noChangeArrowheads="1"/>
            </p:cNvSpPr>
            <p:nvPr/>
          </p:nvSpPr>
          <p:spPr bwMode="auto">
            <a:xfrm>
              <a:off x="5227859" y="2657842"/>
              <a:ext cx="2952750" cy="584775"/>
            </a:xfrm>
            <a:prstGeom prst="rect">
              <a:avLst/>
            </a:prstGeom>
            <a:noFill/>
            <a:ln w="9525">
              <a:noFill/>
              <a:miter lim="800000"/>
              <a:headEnd/>
              <a:tailEnd/>
            </a:ln>
          </p:spPr>
          <p:txBody>
            <a:bodyPr>
              <a:spAutoFit/>
            </a:bodyPr>
            <a:lstStyle/>
            <a:p>
              <a:pPr>
                <a:defRPr/>
              </a:pPr>
              <a:r>
                <a:rPr lang="en-US" altLang="ko-KR" sz="3200" b="1" dirty="0">
                  <a:solidFill>
                    <a:srgbClr val="337BA9"/>
                  </a:solidFill>
                  <a:latin typeface="+mj-lt"/>
                  <a:ea typeface="맑은 고딕" pitchFamily="50" charset="-127"/>
                </a:rPr>
                <a:t>Objective</a:t>
              </a:r>
            </a:p>
          </p:txBody>
        </p:sp>
        <p:sp>
          <p:nvSpPr>
            <p:cNvPr id="39" name="TextBox 13"/>
            <p:cNvSpPr txBox="1">
              <a:spLocks noChangeArrowheads="1"/>
            </p:cNvSpPr>
            <p:nvPr/>
          </p:nvSpPr>
          <p:spPr bwMode="auto">
            <a:xfrm>
              <a:off x="4705390" y="2841281"/>
              <a:ext cx="508473" cy="477054"/>
            </a:xfrm>
            <a:prstGeom prst="rect">
              <a:avLst/>
            </a:prstGeom>
            <a:noFill/>
            <a:ln w="9525">
              <a:noFill/>
              <a:miter lim="800000"/>
              <a:headEnd/>
              <a:tailEnd/>
            </a:ln>
          </p:spPr>
          <p:txBody>
            <a:bodyPr wrap="none">
              <a:spAutoFit/>
            </a:bodyPr>
            <a:lstStyle/>
            <a:p>
              <a:r>
                <a:rPr lang="en-US" altLang="ko-KR" sz="2500" b="1" dirty="0">
                  <a:solidFill>
                    <a:srgbClr val="06266B"/>
                  </a:solidFill>
                  <a:latin typeface="+mj-lt"/>
                  <a:ea typeface="맑은 고딕" pitchFamily="50" charset="-127"/>
                </a:rPr>
                <a:t>02</a:t>
              </a:r>
              <a:endParaRPr lang="ko-KR" altLang="en-US" sz="2500" b="1" dirty="0">
                <a:solidFill>
                  <a:srgbClr val="06266B"/>
                </a:solidFill>
                <a:latin typeface="+mj-lt"/>
                <a:ea typeface="맑은 고딕" pitchFamily="50" charset="-127"/>
              </a:endParaRPr>
            </a:p>
          </p:txBody>
        </p:sp>
        <p:cxnSp>
          <p:nvCxnSpPr>
            <p:cNvPr id="60" name="직선 연결선 59"/>
            <p:cNvCxnSpPr>
              <a:cxnSpLocks/>
            </p:cNvCxnSpPr>
            <p:nvPr/>
          </p:nvCxnSpPr>
          <p:spPr>
            <a:xfrm>
              <a:off x="5227859" y="3189636"/>
              <a:ext cx="3420841" cy="0"/>
            </a:xfrm>
            <a:prstGeom prst="line">
              <a:avLst/>
            </a:prstGeom>
            <a:ln>
              <a:solidFill>
                <a:schemeClr val="bg1">
                  <a:lumMod val="65000"/>
                </a:schemeClr>
              </a:solidFill>
              <a:tailEnd type="oval" w="sm" len="sm"/>
            </a:ln>
          </p:spPr>
          <p:style>
            <a:lnRef idx="1">
              <a:schemeClr val="accent1"/>
            </a:lnRef>
            <a:fillRef idx="0">
              <a:schemeClr val="accent1"/>
            </a:fillRef>
            <a:effectRef idx="0">
              <a:schemeClr val="accent1"/>
            </a:effectRef>
            <a:fontRef idx="minor">
              <a:schemeClr val="tx1"/>
            </a:fontRef>
          </p:style>
        </p:cxnSp>
      </p:grpSp>
      <p:grpSp>
        <p:nvGrpSpPr>
          <p:cNvPr id="7" name="그룹 6"/>
          <p:cNvGrpSpPr/>
          <p:nvPr/>
        </p:nvGrpSpPr>
        <p:grpSpPr>
          <a:xfrm>
            <a:off x="4719386" y="3450735"/>
            <a:ext cx="4353228" cy="680531"/>
            <a:chOff x="4719386" y="3450735"/>
            <a:chExt cx="4353228" cy="680531"/>
          </a:xfrm>
        </p:grpSpPr>
        <p:sp>
          <p:nvSpPr>
            <p:cNvPr id="43" name="Text Box 5"/>
            <p:cNvSpPr txBox="1">
              <a:spLocks noChangeArrowheads="1"/>
            </p:cNvSpPr>
            <p:nvPr/>
          </p:nvSpPr>
          <p:spPr bwMode="auto">
            <a:xfrm>
              <a:off x="5220694" y="3450735"/>
              <a:ext cx="3851920" cy="584775"/>
            </a:xfrm>
            <a:prstGeom prst="rect">
              <a:avLst/>
            </a:prstGeom>
            <a:noFill/>
            <a:ln w="9525">
              <a:noFill/>
              <a:miter lim="800000"/>
              <a:headEnd/>
              <a:tailEnd/>
            </a:ln>
          </p:spPr>
          <p:txBody>
            <a:bodyPr wrap="square">
              <a:spAutoFit/>
            </a:bodyPr>
            <a:lstStyle/>
            <a:p>
              <a:pPr>
                <a:defRPr/>
              </a:pPr>
              <a:r>
                <a:rPr lang="en-US" altLang="ko-KR" sz="3200" b="1" dirty="0">
                  <a:solidFill>
                    <a:srgbClr val="337BA9"/>
                  </a:solidFill>
                  <a:latin typeface="+mj-lt"/>
                  <a:ea typeface="맑은 고딕" pitchFamily="50" charset="-127"/>
                </a:rPr>
                <a:t>Course of the Project</a:t>
              </a:r>
            </a:p>
          </p:txBody>
        </p:sp>
        <p:sp>
          <p:nvSpPr>
            <p:cNvPr id="45" name="TextBox 13"/>
            <p:cNvSpPr txBox="1">
              <a:spLocks noChangeArrowheads="1"/>
            </p:cNvSpPr>
            <p:nvPr/>
          </p:nvSpPr>
          <p:spPr bwMode="auto">
            <a:xfrm>
              <a:off x="4719386" y="3654212"/>
              <a:ext cx="508473" cy="477054"/>
            </a:xfrm>
            <a:prstGeom prst="rect">
              <a:avLst/>
            </a:prstGeom>
            <a:noFill/>
            <a:ln w="9525">
              <a:noFill/>
              <a:miter lim="800000"/>
              <a:headEnd/>
              <a:tailEnd/>
            </a:ln>
          </p:spPr>
          <p:txBody>
            <a:bodyPr wrap="none">
              <a:spAutoFit/>
            </a:bodyPr>
            <a:lstStyle/>
            <a:p>
              <a:r>
                <a:rPr lang="en-US" altLang="ko-KR" sz="2500" b="1" dirty="0">
                  <a:solidFill>
                    <a:srgbClr val="06266B"/>
                  </a:solidFill>
                  <a:latin typeface="+mj-lt"/>
                  <a:ea typeface="맑은 고딕" pitchFamily="50" charset="-127"/>
                </a:rPr>
                <a:t>03</a:t>
              </a:r>
              <a:endParaRPr lang="ko-KR" altLang="en-US" sz="2500" b="1" dirty="0">
                <a:solidFill>
                  <a:srgbClr val="06266B"/>
                </a:solidFill>
                <a:latin typeface="+mj-lt"/>
                <a:ea typeface="맑은 고딕" pitchFamily="50" charset="-127"/>
              </a:endParaRPr>
            </a:p>
          </p:txBody>
        </p:sp>
        <p:cxnSp>
          <p:nvCxnSpPr>
            <p:cNvPr id="61" name="직선 연결선 60"/>
            <p:cNvCxnSpPr>
              <a:cxnSpLocks/>
            </p:cNvCxnSpPr>
            <p:nvPr/>
          </p:nvCxnSpPr>
          <p:spPr>
            <a:xfrm>
              <a:off x="5227859" y="4013549"/>
              <a:ext cx="3420841" cy="0"/>
            </a:xfrm>
            <a:prstGeom prst="line">
              <a:avLst/>
            </a:prstGeom>
            <a:ln>
              <a:solidFill>
                <a:schemeClr val="bg1">
                  <a:lumMod val="65000"/>
                </a:schemeClr>
              </a:solidFill>
              <a:tailEnd type="oval" w="sm" len="sm"/>
            </a:ln>
          </p:spPr>
          <p:style>
            <a:lnRef idx="1">
              <a:schemeClr val="accent1"/>
            </a:lnRef>
            <a:fillRef idx="0">
              <a:schemeClr val="accent1"/>
            </a:fillRef>
            <a:effectRef idx="0">
              <a:schemeClr val="accent1"/>
            </a:effectRef>
            <a:fontRef idx="minor">
              <a:schemeClr val="tx1"/>
            </a:fontRef>
          </p:style>
        </p:cxnSp>
      </p:grpSp>
      <p:grpSp>
        <p:nvGrpSpPr>
          <p:cNvPr id="6" name="그룹 5"/>
          <p:cNvGrpSpPr/>
          <p:nvPr/>
        </p:nvGrpSpPr>
        <p:grpSpPr>
          <a:xfrm>
            <a:off x="4712221" y="4315069"/>
            <a:ext cx="3936479" cy="617538"/>
            <a:chOff x="4712221" y="4315069"/>
            <a:chExt cx="3936479" cy="617538"/>
          </a:xfrm>
        </p:grpSpPr>
        <p:sp>
          <p:nvSpPr>
            <p:cNvPr id="49" name="Text Box 5"/>
            <p:cNvSpPr txBox="1">
              <a:spLocks noChangeArrowheads="1"/>
            </p:cNvSpPr>
            <p:nvPr/>
          </p:nvSpPr>
          <p:spPr bwMode="auto">
            <a:xfrm>
              <a:off x="5215080" y="4315069"/>
              <a:ext cx="2952750" cy="584775"/>
            </a:xfrm>
            <a:prstGeom prst="rect">
              <a:avLst/>
            </a:prstGeom>
            <a:noFill/>
            <a:ln w="9525">
              <a:noFill/>
              <a:miter lim="800000"/>
              <a:headEnd/>
              <a:tailEnd/>
            </a:ln>
          </p:spPr>
          <p:txBody>
            <a:bodyPr>
              <a:spAutoFit/>
            </a:bodyPr>
            <a:lstStyle/>
            <a:p>
              <a:pPr>
                <a:defRPr/>
              </a:pPr>
              <a:r>
                <a:rPr lang="en-US" altLang="ko-KR" sz="3200" b="1" dirty="0">
                  <a:solidFill>
                    <a:srgbClr val="337BA9"/>
                  </a:solidFill>
                  <a:latin typeface="+mj-lt"/>
                  <a:ea typeface="맑은 고딕" pitchFamily="50" charset="-127"/>
                </a:rPr>
                <a:t>Key Takeaways</a:t>
              </a:r>
            </a:p>
          </p:txBody>
        </p:sp>
        <p:sp>
          <p:nvSpPr>
            <p:cNvPr id="51" name="TextBox 13"/>
            <p:cNvSpPr txBox="1">
              <a:spLocks noChangeArrowheads="1"/>
            </p:cNvSpPr>
            <p:nvPr/>
          </p:nvSpPr>
          <p:spPr bwMode="auto">
            <a:xfrm>
              <a:off x="4712221" y="4455553"/>
              <a:ext cx="508473" cy="477054"/>
            </a:xfrm>
            <a:prstGeom prst="rect">
              <a:avLst/>
            </a:prstGeom>
            <a:noFill/>
            <a:ln w="9525">
              <a:noFill/>
              <a:miter lim="800000"/>
              <a:headEnd/>
              <a:tailEnd/>
            </a:ln>
          </p:spPr>
          <p:txBody>
            <a:bodyPr wrap="none">
              <a:spAutoFit/>
            </a:bodyPr>
            <a:lstStyle/>
            <a:p>
              <a:r>
                <a:rPr lang="en-US" altLang="ko-KR" sz="2500" b="1" dirty="0">
                  <a:solidFill>
                    <a:srgbClr val="06266B"/>
                  </a:solidFill>
                  <a:latin typeface="+mj-lt"/>
                  <a:ea typeface="맑은 고딕" pitchFamily="50" charset="-127"/>
                </a:rPr>
                <a:t>04</a:t>
              </a:r>
              <a:endParaRPr lang="ko-KR" altLang="en-US" sz="2500" b="1" dirty="0">
                <a:solidFill>
                  <a:srgbClr val="06266B"/>
                </a:solidFill>
                <a:latin typeface="+mj-lt"/>
                <a:ea typeface="맑은 고딕" pitchFamily="50" charset="-127"/>
              </a:endParaRPr>
            </a:p>
          </p:txBody>
        </p:sp>
        <p:cxnSp>
          <p:nvCxnSpPr>
            <p:cNvPr id="62" name="직선 연결선 61"/>
            <p:cNvCxnSpPr>
              <a:cxnSpLocks/>
            </p:cNvCxnSpPr>
            <p:nvPr/>
          </p:nvCxnSpPr>
          <p:spPr>
            <a:xfrm>
              <a:off x="5227859" y="4837462"/>
              <a:ext cx="3420841" cy="0"/>
            </a:xfrm>
            <a:prstGeom prst="line">
              <a:avLst/>
            </a:prstGeom>
            <a:ln>
              <a:solidFill>
                <a:schemeClr val="bg1">
                  <a:lumMod val="65000"/>
                </a:schemeClr>
              </a:solidFill>
              <a:tailEnd type="oval" w="sm" len="sm"/>
            </a:ln>
          </p:spPr>
          <p:style>
            <a:lnRef idx="1">
              <a:schemeClr val="accent1"/>
            </a:lnRef>
            <a:fillRef idx="0">
              <a:schemeClr val="accent1"/>
            </a:fillRef>
            <a:effectRef idx="0">
              <a:schemeClr val="accent1"/>
            </a:effectRef>
            <a:fontRef idx="minor">
              <a:schemeClr val="tx1"/>
            </a:fontRef>
          </p:style>
        </p:cxnSp>
      </p:grpSp>
      <p:grpSp>
        <p:nvGrpSpPr>
          <p:cNvPr id="2" name="그룹 1"/>
          <p:cNvGrpSpPr/>
          <p:nvPr/>
        </p:nvGrpSpPr>
        <p:grpSpPr>
          <a:xfrm>
            <a:off x="4712221" y="5150828"/>
            <a:ext cx="3936479" cy="594710"/>
            <a:chOff x="4712221" y="5150828"/>
            <a:chExt cx="3936479" cy="594710"/>
          </a:xfrm>
        </p:grpSpPr>
        <p:sp>
          <p:nvSpPr>
            <p:cNvPr id="55" name="Text Box 5"/>
            <p:cNvSpPr txBox="1">
              <a:spLocks noChangeArrowheads="1"/>
            </p:cNvSpPr>
            <p:nvPr/>
          </p:nvSpPr>
          <p:spPr bwMode="auto">
            <a:xfrm>
              <a:off x="5215080" y="5150828"/>
              <a:ext cx="2952750" cy="584775"/>
            </a:xfrm>
            <a:prstGeom prst="rect">
              <a:avLst/>
            </a:prstGeom>
            <a:noFill/>
            <a:ln w="9525">
              <a:noFill/>
              <a:miter lim="800000"/>
              <a:headEnd/>
              <a:tailEnd/>
            </a:ln>
          </p:spPr>
          <p:txBody>
            <a:bodyPr>
              <a:spAutoFit/>
            </a:bodyPr>
            <a:lstStyle/>
            <a:p>
              <a:pPr>
                <a:defRPr/>
              </a:pPr>
              <a:r>
                <a:rPr lang="en-US" altLang="ko-KR" sz="3200" b="1" dirty="0">
                  <a:solidFill>
                    <a:srgbClr val="337BA9"/>
                  </a:solidFill>
                  <a:latin typeface="+mj-lt"/>
                  <a:ea typeface="맑은 고딕" pitchFamily="50" charset="-127"/>
                </a:rPr>
                <a:t>Conclusion</a:t>
              </a:r>
            </a:p>
          </p:txBody>
        </p:sp>
        <p:sp>
          <p:nvSpPr>
            <p:cNvPr id="57" name="TextBox 13"/>
            <p:cNvSpPr txBox="1">
              <a:spLocks noChangeArrowheads="1"/>
            </p:cNvSpPr>
            <p:nvPr/>
          </p:nvSpPr>
          <p:spPr bwMode="auto">
            <a:xfrm>
              <a:off x="4712221" y="5268484"/>
              <a:ext cx="508473" cy="477054"/>
            </a:xfrm>
            <a:prstGeom prst="rect">
              <a:avLst/>
            </a:prstGeom>
            <a:noFill/>
            <a:ln w="9525">
              <a:noFill/>
              <a:miter lim="800000"/>
              <a:headEnd/>
              <a:tailEnd/>
            </a:ln>
          </p:spPr>
          <p:txBody>
            <a:bodyPr wrap="none">
              <a:spAutoFit/>
            </a:bodyPr>
            <a:lstStyle/>
            <a:p>
              <a:r>
                <a:rPr lang="en-US" altLang="ko-KR" sz="2500" b="1" dirty="0">
                  <a:solidFill>
                    <a:srgbClr val="06266B"/>
                  </a:solidFill>
                  <a:latin typeface="+mj-lt"/>
                  <a:ea typeface="맑은 고딕" pitchFamily="50" charset="-127"/>
                </a:rPr>
                <a:t>05</a:t>
              </a:r>
              <a:endParaRPr lang="ko-KR" altLang="en-US" sz="2500" b="1" dirty="0">
                <a:solidFill>
                  <a:srgbClr val="06266B"/>
                </a:solidFill>
                <a:latin typeface="+mj-lt"/>
                <a:ea typeface="맑은 고딕" pitchFamily="50" charset="-127"/>
              </a:endParaRPr>
            </a:p>
          </p:txBody>
        </p:sp>
        <p:cxnSp>
          <p:nvCxnSpPr>
            <p:cNvPr id="63" name="직선 연결선 62"/>
            <p:cNvCxnSpPr>
              <a:cxnSpLocks/>
            </p:cNvCxnSpPr>
            <p:nvPr/>
          </p:nvCxnSpPr>
          <p:spPr>
            <a:xfrm>
              <a:off x="5227859" y="5661373"/>
              <a:ext cx="3420841" cy="0"/>
            </a:xfrm>
            <a:prstGeom prst="line">
              <a:avLst/>
            </a:prstGeom>
            <a:ln>
              <a:solidFill>
                <a:schemeClr val="bg1">
                  <a:lumMod val="65000"/>
                </a:schemeClr>
              </a:solidFill>
              <a:tailEnd type="oval" w="sm" len="sm"/>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EAB26-289E-1E7B-7055-01AB0F8E9C70}"/>
              </a:ext>
            </a:extLst>
          </p:cNvPr>
          <p:cNvSpPr>
            <a:spLocks noGrp="1"/>
          </p:cNvSpPr>
          <p:nvPr>
            <p:ph type="title"/>
          </p:nvPr>
        </p:nvSpPr>
        <p:spPr/>
        <p:txBody>
          <a:bodyPr>
            <a:normAutofit/>
          </a:bodyPr>
          <a:lstStyle/>
          <a:p>
            <a:r>
              <a:rPr lang="en-US" sz="4000" b="1" dirty="0"/>
              <a:t>Introduction of the Project</a:t>
            </a:r>
            <a:endParaRPr lang="en-IN" sz="4000" dirty="0"/>
          </a:p>
        </p:txBody>
      </p:sp>
      <p:sp>
        <p:nvSpPr>
          <p:cNvPr id="3" name="Content Placeholder 2">
            <a:extLst>
              <a:ext uri="{FF2B5EF4-FFF2-40B4-BE49-F238E27FC236}">
                <a16:creationId xmlns:a16="http://schemas.microsoft.com/office/drawing/2014/main" id="{A14DBA67-7A2D-1F87-FFB4-8F625D212D80}"/>
              </a:ext>
            </a:extLst>
          </p:cNvPr>
          <p:cNvSpPr>
            <a:spLocks noGrp="1"/>
          </p:cNvSpPr>
          <p:nvPr>
            <p:ph idx="1"/>
          </p:nvPr>
        </p:nvSpPr>
        <p:spPr/>
        <p:txBody>
          <a:bodyPr/>
          <a:lstStyle/>
          <a:p>
            <a:pPr marL="0" indent="0">
              <a:buNone/>
            </a:pPr>
            <a:r>
              <a:rPr lang="en-US" sz="2400" i="0" dirty="0">
                <a:solidFill>
                  <a:schemeClr val="tx1"/>
                </a:solidFill>
              </a:rPr>
              <a:t>This project is aimed to extract the valuable insights from the data given by the company from the year 2008 to 2013 to improve the operations and performance of High Cloud Airlines through data analysis.</a:t>
            </a:r>
          </a:p>
          <a:p>
            <a:pPr marL="0" indent="0">
              <a:buNone/>
            </a:pPr>
            <a:r>
              <a:rPr lang="en-US" sz="2400" i="0" dirty="0">
                <a:solidFill>
                  <a:schemeClr val="tx1"/>
                </a:solidFill>
              </a:rPr>
              <a:t>In this project we mainly focused on building KPI’s and Visuals of,</a:t>
            </a:r>
          </a:p>
          <a:p>
            <a:pPr marL="285750" indent="-285750">
              <a:buFont typeface="Arial" panose="020B0604020202020204" pitchFamily="34" charset="0"/>
              <a:buChar char="•"/>
            </a:pPr>
            <a:r>
              <a:rPr lang="en-US" sz="2400" i="0" dirty="0">
                <a:solidFill>
                  <a:schemeClr val="tx1"/>
                </a:solidFill>
              </a:rPr>
              <a:t>Load factor</a:t>
            </a:r>
          </a:p>
          <a:p>
            <a:pPr marL="285750" indent="-285750">
              <a:buFont typeface="Arial" panose="020B0604020202020204" pitchFamily="34" charset="0"/>
              <a:buChar char="•"/>
            </a:pPr>
            <a:r>
              <a:rPr lang="en-US" sz="2400" i="0" dirty="0">
                <a:solidFill>
                  <a:schemeClr val="tx1"/>
                </a:solidFill>
              </a:rPr>
              <a:t>Top carriers</a:t>
            </a:r>
          </a:p>
          <a:p>
            <a:pPr marL="285750" indent="-285750">
              <a:buFont typeface="Arial" panose="020B0604020202020204" pitchFamily="34" charset="0"/>
              <a:buChar char="•"/>
            </a:pPr>
            <a:r>
              <a:rPr lang="en-US" sz="2400" i="0" dirty="0">
                <a:solidFill>
                  <a:schemeClr val="tx1"/>
                </a:solidFill>
              </a:rPr>
              <a:t>Top routes</a:t>
            </a:r>
          </a:p>
          <a:p>
            <a:pPr marL="285750" indent="-285750">
              <a:buFont typeface="Arial" panose="020B0604020202020204" pitchFamily="34" charset="0"/>
              <a:buChar char="•"/>
            </a:pPr>
            <a:r>
              <a:rPr lang="en-US" sz="2400" i="0" dirty="0">
                <a:solidFill>
                  <a:schemeClr val="tx1"/>
                </a:solidFill>
              </a:rPr>
              <a:t>Efficiency of the company</a:t>
            </a:r>
          </a:p>
          <a:p>
            <a:pPr marL="285750" indent="-285750">
              <a:buFont typeface="Arial" panose="020B0604020202020204" pitchFamily="34" charset="0"/>
              <a:buChar char="•"/>
            </a:pPr>
            <a:r>
              <a:rPr lang="en-US" sz="2400" i="0" dirty="0">
                <a:solidFill>
                  <a:schemeClr val="tx1"/>
                </a:solidFill>
              </a:rPr>
              <a:t>Creating overall dashboard</a:t>
            </a:r>
            <a:endParaRPr lang="en-IN" sz="2400" i="0" dirty="0">
              <a:solidFill>
                <a:schemeClr val="tx1"/>
              </a:solidFill>
            </a:endParaRPr>
          </a:p>
          <a:p>
            <a:endParaRPr lang="en-IN" dirty="0"/>
          </a:p>
        </p:txBody>
      </p:sp>
    </p:spTree>
    <p:extLst>
      <p:ext uri="{BB962C8B-B14F-4D97-AF65-F5344CB8AC3E}">
        <p14:creationId xmlns:p14="http://schemas.microsoft.com/office/powerpoint/2010/main" val="3872929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B8AFF-8BD0-067B-BE87-0BE5E5B47FC6}"/>
              </a:ext>
            </a:extLst>
          </p:cNvPr>
          <p:cNvSpPr>
            <a:spLocks noGrp="1"/>
          </p:cNvSpPr>
          <p:nvPr>
            <p:ph type="title"/>
          </p:nvPr>
        </p:nvSpPr>
        <p:spPr/>
        <p:txBody>
          <a:bodyPr>
            <a:normAutofit/>
          </a:bodyPr>
          <a:lstStyle/>
          <a:p>
            <a:r>
              <a:rPr lang="en-US" sz="4000" b="1" dirty="0"/>
              <a:t>Objective</a:t>
            </a:r>
            <a:endParaRPr lang="en-IN" sz="4000" dirty="0"/>
          </a:p>
        </p:txBody>
      </p:sp>
      <p:sp>
        <p:nvSpPr>
          <p:cNvPr id="3" name="Content Placeholder 2">
            <a:extLst>
              <a:ext uri="{FF2B5EF4-FFF2-40B4-BE49-F238E27FC236}">
                <a16:creationId xmlns:a16="http://schemas.microsoft.com/office/drawing/2014/main" id="{A3BB8370-3B14-3FBA-817A-D41BEC229B1C}"/>
              </a:ext>
            </a:extLst>
          </p:cNvPr>
          <p:cNvSpPr>
            <a:spLocks noGrp="1"/>
          </p:cNvSpPr>
          <p:nvPr>
            <p:ph idx="1"/>
          </p:nvPr>
        </p:nvSpPr>
        <p:spPr/>
        <p:txBody>
          <a:bodyPr/>
          <a:lstStyle/>
          <a:p>
            <a:pPr marL="0" indent="0">
              <a:buNone/>
            </a:pPr>
            <a:r>
              <a:rPr lang="en-US" sz="2400" i="0" dirty="0">
                <a:solidFill>
                  <a:schemeClr val="tx1"/>
                </a:solidFill>
              </a:rPr>
              <a:t>Analysis of High Cloud Airline data is to gain domain knowledge of aviation sector (like how it works) and focusing on managing and  analyzing the dataset by data cleaning, data modelling and data visualization using BI tools like Microsoft Excel, Power BI, Tableau and MySQL.</a:t>
            </a:r>
          </a:p>
          <a:p>
            <a:pPr marL="0" indent="0">
              <a:buNone/>
            </a:pPr>
            <a:r>
              <a:rPr lang="en-US" sz="2400" i="0" dirty="0">
                <a:solidFill>
                  <a:schemeClr val="tx1"/>
                </a:solidFill>
              </a:rPr>
              <a:t>Ultimately the goal is to provide the company an useful and practical suggestions on strategic decision making to improve efficiency and performance for different aspects of airline operations such as route optimization, customer service, etc.</a:t>
            </a:r>
            <a:endParaRPr lang="en-IN" sz="2400" i="0" dirty="0">
              <a:solidFill>
                <a:schemeClr val="tx1"/>
              </a:solidFill>
            </a:endParaRPr>
          </a:p>
          <a:p>
            <a:endParaRPr lang="en-IN" dirty="0"/>
          </a:p>
        </p:txBody>
      </p:sp>
    </p:spTree>
    <p:extLst>
      <p:ext uri="{BB962C8B-B14F-4D97-AF65-F5344CB8AC3E}">
        <p14:creationId xmlns:p14="http://schemas.microsoft.com/office/powerpoint/2010/main" val="2392976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C7855-5C6A-5C12-4658-9B064FBBE6F1}"/>
              </a:ext>
            </a:extLst>
          </p:cNvPr>
          <p:cNvSpPr>
            <a:spLocks noGrp="1"/>
          </p:cNvSpPr>
          <p:nvPr>
            <p:ph type="title"/>
          </p:nvPr>
        </p:nvSpPr>
        <p:spPr/>
        <p:txBody>
          <a:bodyPr>
            <a:normAutofit/>
          </a:bodyPr>
          <a:lstStyle/>
          <a:p>
            <a:r>
              <a:rPr lang="en-US" sz="3600" b="1" dirty="0"/>
              <a:t>Course of the Project</a:t>
            </a:r>
            <a:endParaRPr lang="en-IN" sz="3600" dirty="0"/>
          </a:p>
        </p:txBody>
      </p:sp>
      <p:sp>
        <p:nvSpPr>
          <p:cNvPr id="3" name="Content Placeholder 2">
            <a:extLst>
              <a:ext uri="{FF2B5EF4-FFF2-40B4-BE49-F238E27FC236}">
                <a16:creationId xmlns:a16="http://schemas.microsoft.com/office/drawing/2014/main" id="{34A70D7E-5688-54FD-F4C6-176FD3FD808A}"/>
              </a:ext>
            </a:extLst>
          </p:cNvPr>
          <p:cNvSpPr>
            <a:spLocks noGrp="1"/>
          </p:cNvSpPr>
          <p:nvPr>
            <p:ph idx="1"/>
          </p:nvPr>
        </p:nvSpPr>
        <p:spPr>
          <a:xfrm>
            <a:off x="179512" y="1268760"/>
            <a:ext cx="8784976" cy="4848919"/>
          </a:xfrm>
        </p:spPr>
        <p:txBody>
          <a:bodyPr>
            <a:normAutofit fontScale="85000" lnSpcReduction="10000"/>
          </a:bodyPr>
          <a:lstStyle/>
          <a:p>
            <a:pPr>
              <a:buFont typeface="Arial" panose="020B0604020202020204" pitchFamily="34" charset="0"/>
              <a:buChar char="•"/>
            </a:pPr>
            <a:r>
              <a:rPr lang="en-US" sz="2800" i="0" dirty="0"/>
              <a:t>Data cleaning and data modelling using Excel, Power query editor and MySQL.</a:t>
            </a:r>
          </a:p>
          <a:p>
            <a:pPr>
              <a:buFont typeface="Arial" panose="020B0604020202020204" pitchFamily="34" charset="0"/>
              <a:buChar char="•"/>
            </a:pPr>
            <a:r>
              <a:rPr lang="en-US" sz="2800" i="0" dirty="0"/>
              <a:t>Due to large volume of dataset it impacted our work flow like import time, long loading time, etc.</a:t>
            </a:r>
          </a:p>
          <a:p>
            <a:pPr>
              <a:buFont typeface="Arial" panose="020B0604020202020204" pitchFamily="34" charset="0"/>
              <a:buChar char="•"/>
            </a:pPr>
            <a:r>
              <a:rPr lang="en-US" sz="2800" i="0" dirty="0"/>
              <a:t>Created KPI’s and Visuals using pivot charts, Power BI and Tableau.</a:t>
            </a:r>
          </a:p>
          <a:p>
            <a:pPr>
              <a:buFont typeface="Arial" panose="020B0604020202020204" pitchFamily="34" charset="0"/>
              <a:buChar char="•"/>
            </a:pPr>
            <a:r>
              <a:rPr lang="en-US" sz="2800" i="0" dirty="0"/>
              <a:t>Calculated load factor (i.e. Transported passengers/available seats) on year, quarter, monthly basis and also on carrier name basis.</a:t>
            </a:r>
          </a:p>
          <a:p>
            <a:pPr>
              <a:buFont typeface="Arial" panose="020B0604020202020204" pitchFamily="34" charset="0"/>
              <a:buChar char="•"/>
            </a:pPr>
            <a:r>
              <a:rPr lang="en-US" sz="2800" i="0" dirty="0"/>
              <a:t>Identified the top 10 carrier names and routes based on passenger preference.</a:t>
            </a:r>
          </a:p>
          <a:p>
            <a:pPr>
              <a:buFont typeface="Arial" panose="020B0604020202020204" pitchFamily="34" charset="0"/>
              <a:buChar char="•"/>
            </a:pPr>
            <a:r>
              <a:rPr lang="en-US" sz="2800" i="0" dirty="0"/>
              <a:t>Compared the load factor on weekdays and weekends.</a:t>
            </a:r>
          </a:p>
          <a:p>
            <a:pPr>
              <a:buFont typeface="Arial" panose="020B0604020202020204" pitchFamily="34" charset="0"/>
              <a:buChar char="•"/>
            </a:pPr>
            <a:r>
              <a:rPr lang="en-US" sz="2800" i="0" dirty="0"/>
              <a:t>Finally we created 3 dashboards using excel, Power BI and Tableau.</a:t>
            </a:r>
            <a:endParaRPr lang="en-IN" sz="2800" i="0" dirty="0"/>
          </a:p>
          <a:p>
            <a:endParaRPr lang="en-IN" dirty="0"/>
          </a:p>
        </p:txBody>
      </p:sp>
    </p:spTree>
    <p:extLst>
      <p:ext uri="{BB962C8B-B14F-4D97-AF65-F5344CB8AC3E}">
        <p14:creationId xmlns:p14="http://schemas.microsoft.com/office/powerpoint/2010/main" val="2888886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en-US" altLang="ko-KR" sz="3600" dirty="0"/>
              <a:t>Excel Dashboard</a:t>
            </a:r>
            <a:endParaRPr lang="ko-KR" altLang="en-US" sz="3600" dirty="0"/>
          </a:p>
        </p:txBody>
      </p:sp>
      <p:sp>
        <p:nvSpPr>
          <p:cNvPr id="37" name="내용 개체 틀 36"/>
          <p:cNvSpPr>
            <a:spLocks noGrp="1"/>
          </p:cNvSpPr>
          <p:nvPr>
            <p:ph idx="1"/>
          </p:nvPr>
        </p:nvSpPr>
        <p:spPr/>
        <p:txBody>
          <a:bodyPr/>
          <a:lstStyle/>
          <a:p>
            <a:r>
              <a:rPr lang="en-US" altLang="ko-KR" dirty="0"/>
              <a:t>Replace with your own text</a:t>
            </a:r>
            <a:endParaRPr lang="ko-KR" altLang="en-US" dirty="0"/>
          </a:p>
        </p:txBody>
      </p:sp>
      <p:pic>
        <p:nvPicPr>
          <p:cNvPr id="4" name="Picture 3">
            <a:extLst>
              <a:ext uri="{FF2B5EF4-FFF2-40B4-BE49-F238E27FC236}">
                <a16:creationId xmlns:a16="http://schemas.microsoft.com/office/drawing/2014/main" id="{660EB428-7A40-18AA-6BD0-22971924BB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80728"/>
            <a:ext cx="9144000" cy="587727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58947-8E0C-71E2-E997-77CAD5B69B01}"/>
              </a:ext>
            </a:extLst>
          </p:cNvPr>
          <p:cNvSpPr>
            <a:spLocks noGrp="1"/>
          </p:cNvSpPr>
          <p:nvPr>
            <p:ph type="title"/>
          </p:nvPr>
        </p:nvSpPr>
        <p:spPr/>
        <p:txBody>
          <a:bodyPr>
            <a:normAutofit/>
          </a:bodyPr>
          <a:lstStyle/>
          <a:p>
            <a:r>
              <a:rPr lang="en-IN" sz="3600" dirty="0"/>
              <a:t>Power BI Dashboard</a:t>
            </a:r>
          </a:p>
        </p:txBody>
      </p:sp>
      <p:pic>
        <p:nvPicPr>
          <p:cNvPr id="6" name="Content Placeholder 5">
            <a:extLst>
              <a:ext uri="{FF2B5EF4-FFF2-40B4-BE49-F238E27FC236}">
                <a16:creationId xmlns:a16="http://schemas.microsoft.com/office/drawing/2014/main" id="{8276DD80-4C1E-7A78-BB2A-9461892E27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872" y="980728"/>
            <a:ext cx="9156871" cy="5877272"/>
          </a:xfrm>
          <a:prstGeom prst="rect">
            <a:avLst/>
          </a:prstGeom>
        </p:spPr>
      </p:pic>
    </p:spTree>
    <p:extLst>
      <p:ext uri="{BB962C8B-B14F-4D97-AF65-F5344CB8AC3E}">
        <p14:creationId xmlns:p14="http://schemas.microsoft.com/office/powerpoint/2010/main" val="2591615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2F016-8503-6799-A838-0A247F32161A}"/>
              </a:ext>
            </a:extLst>
          </p:cNvPr>
          <p:cNvSpPr>
            <a:spLocks noGrp="1"/>
          </p:cNvSpPr>
          <p:nvPr>
            <p:ph type="title"/>
          </p:nvPr>
        </p:nvSpPr>
        <p:spPr/>
        <p:txBody>
          <a:bodyPr>
            <a:normAutofit/>
          </a:bodyPr>
          <a:lstStyle/>
          <a:p>
            <a:r>
              <a:rPr lang="en-IN" sz="3600" dirty="0"/>
              <a:t>Key Takeaways</a:t>
            </a:r>
          </a:p>
        </p:txBody>
      </p:sp>
      <p:sp>
        <p:nvSpPr>
          <p:cNvPr id="3" name="Content Placeholder 2">
            <a:extLst>
              <a:ext uri="{FF2B5EF4-FFF2-40B4-BE49-F238E27FC236}">
                <a16:creationId xmlns:a16="http://schemas.microsoft.com/office/drawing/2014/main" id="{5443D024-D925-6843-5C89-AA3E463183B3}"/>
              </a:ext>
            </a:extLst>
          </p:cNvPr>
          <p:cNvSpPr>
            <a:spLocks noGrp="1"/>
          </p:cNvSpPr>
          <p:nvPr>
            <p:ph idx="1"/>
          </p:nvPr>
        </p:nvSpPr>
        <p:spPr>
          <a:xfrm>
            <a:off x="395536" y="1196752"/>
            <a:ext cx="8402525" cy="5400600"/>
          </a:xfrm>
        </p:spPr>
        <p:txBody>
          <a:bodyPr>
            <a:normAutofit/>
          </a:bodyPr>
          <a:lstStyle/>
          <a:p>
            <a:r>
              <a:rPr lang="en-US" b="1" dirty="0"/>
              <a:t>1. Optimizing Load Factor</a:t>
            </a:r>
            <a:r>
              <a:rPr lang="en-US" dirty="0"/>
              <a:t>:</a:t>
            </a:r>
          </a:p>
          <a:p>
            <a:pPr>
              <a:buFont typeface="Arial" panose="020B0604020202020204" pitchFamily="34" charset="0"/>
              <a:buChar char="•"/>
            </a:pPr>
            <a:r>
              <a:rPr lang="en-US" dirty="0"/>
              <a:t>One of the key metrics analyzed is the </a:t>
            </a:r>
            <a:r>
              <a:rPr lang="en-US" b="1" dirty="0"/>
              <a:t>Load Factor</a:t>
            </a:r>
            <a:r>
              <a:rPr lang="en-US" dirty="0"/>
              <a:t>, which measures the efficiency of the airline in filling seats. A high load factor is crucial for profitability. This analysis can help the airline identify under-performing routes or periods where seat capacity isn’t fully utilized.</a:t>
            </a:r>
          </a:p>
          <a:p>
            <a:pPr>
              <a:buFont typeface="Arial" panose="020B0604020202020204" pitchFamily="34" charset="0"/>
              <a:buChar char="•"/>
            </a:pPr>
            <a:r>
              <a:rPr lang="en-US" b="1" dirty="0"/>
              <a:t>Actionable Suggestion</a:t>
            </a:r>
            <a:r>
              <a:rPr lang="en-US" dirty="0"/>
              <a:t>: Focus on improving load factor by adjusting pricing strategies during low demand periods, promoting more profitable routes, and increasing marketing efforts for less popular flights.</a:t>
            </a:r>
          </a:p>
          <a:p>
            <a:r>
              <a:rPr lang="en-US" dirty="0"/>
              <a:t>2. </a:t>
            </a:r>
            <a:r>
              <a:rPr lang="en-US" b="1" dirty="0"/>
              <a:t>Identifying Top Carriers and Routes</a:t>
            </a:r>
            <a:r>
              <a:rPr lang="en-US" dirty="0"/>
              <a:t>:</a:t>
            </a:r>
          </a:p>
          <a:p>
            <a:pPr>
              <a:buFont typeface="Arial" panose="020B0604020202020204" pitchFamily="34" charset="0"/>
              <a:buChar char="•"/>
            </a:pPr>
            <a:r>
              <a:rPr lang="en-US" dirty="0"/>
              <a:t>By identifying </a:t>
            </a:r>
            <a:r>
              <a:rPr lang="en-US" b="1" dirty="0"/>
              <a:t>top carriers</a:t>
            </a:r>
            <a:r>
              <a:rPr lang="en-US" dirty="0"/>
              <a:t> and </a:t>
            </a:r>
            <a:r>
              <a:rPr lang="en-US" b="1" dirty="0"/>
              <a:t>top routes</a:t>
            </a:r>
            <a:r>
              <a:rPr lang="en-US" dirty="0"/>
              <a:t>, you can assess which carriers and routes are generating the highest revenue and attracting the most passengers.</a:t>
            </a:r>
          </a:p>
          <a:p>
            <a:pPr>
              <a:buFont typeface="Arial" panose="020B0604020202020204" pitchFamily="34" charset="0"/>
              <a:buChar char="•"/>
            </a:pPr>
            <a:r>
              <a:rPr lang="en-US" b="1" dirty="0"/>
              <a:t>Actionable Suggestion</a:t>
            </a:r>
            <a:r>
              <a:rPr lang="en-US" dirty="0"/>
              <a:t>: The airline can strategically allocate resources to the most profitable routes and assess opportunities for new partnerships with high-performing carriers. Additionally, expansion into top-performing routes should be considered for more fleet deployment.</a:t>
            </a:r>
          </a:p>
          <a:p>
            <a:r>
              <a:rPr lang="en-US" dirty="0"/>
              <a:t>3. </a:t>
            </a:r>
            <a:r>
              <a:rPr lang="en-US" b="1" dirty="0"/>
              <a:t>Improving Operational Efficiency</a:t>
            </a:r>
            <a:r>
              <a:rPr lang="en-US" dirty="0"/>
              <a:t>:</a:t>
            </a:r>
          </a:p>
          <a:p>
            <a:pPr>
              <a:buFont typeface="Arial" panose="020B0604020202020204" pitchFamily="34" charset="0"/>
              <a:buChar char="•"/>
            </a:pPr>
            <a:r>
              <a:rPr lang="en-US" dirty="0"/>
              <a:t>Analyzing the efficiency of various operations helps highlight areas for improvement. Metrics such as </a:t>
            </a:r>
            <a:r>
              <a:rPr lang="en-US" b="1" dirty="0"/>
              <a:t>on-time performance</a:t>
            </a:r>
            <a:r>
              <a:rPr lang="en-US" dirty="0"/>
              <a:t>, </a:t>
            </a:r>
            <a:r>
              <a:rPr lang="en-US" b="1" dirty="0"/>
              <a:t>fuel consumption</a:t>
            </a:r>
            <a:r>
              <a:rPr lang="en-US" dirty="0"/>
              <a:t>, and </a:t>
            </a:r>
            <a:r>
              <a:rPr lang="en-US" b="1" dirty="0"/>
              <a:t>employee productivity</a:t>
            </a:r>
            <a:r>
              <a:rPr lang="en-US" dirty="0"/>
              <a:t> provide insight into operational bottlenecks.</a:t>
            </a:r>
          </a:p>
          <a:p>
            <a:pPr>
              <a:buFont typeface="Arial" panose="020B0604020202020204" pitchFamily="34" charset="0"/>
              <a:buChar char="•"/>
            </a:pPr>
            <a:r>
              <a:rPr lang="en-US" b="1" dirty="0"/>
              <a:t>Actionable Suggestion</a:t>
            </a:r>
            <a:r>
              <a:rPr lang="en-US" dirty="0"/>
              <a:t>: Invest in technologies that streamline scheduling and enhance fuel efficiency. Train employees to handle critical tasks more efficiently, reducing delays and operational costs.</a:t>
            </a:r>
          </a:p>
          <a:p>
            <a:pPr marL="0" indent="0"/>
            <a:endParaRPr lang="en-US" dirty="0"/>
          </a:p>
          <a:p>
            <a:pPr marL="0" indent="0"/>
            <a:endParaRPr lang="en-US" dirty="0"/>
          </a:p>
          <a:p>
            <a:endParaRPr lang="en-IN" dirty="0"/>
          </a:p>
        </p:txBody>
      </p:sp>
    </p:spTree>
    <p:extLst>
      <p:ext uri="{BB962C8B-B14F-4D97-AF65-F5344CB8AC3E}">
        <p14:creationId xmlns:p14="http://schemas.microsoft.com/office/powerpoint/2010/main" val="2888298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EC21C-F59E-8040-E14A-391038933DC1}"/>
              </a:ext>
            </a:extLst>
          </p:cNvPr>
          <p:cNvSpPr>
            <a:spLocks noGrp="1"/>
          </p:cNvSpPr>
          <p:nvPr>
            <p:ph type="title"/>
          </p:nvPr>
        </p:nvSpPr>
        <p:spPr/>
        <p:txBody>
          <a:bodyPr>
            <a:normAutofit/>
          </a:bodyPr>
          <a:lstStyle/>
          <a:p>
            <a:r>
              <a:rPr lang="en-IN" sz="3600" dirty="0"/>
              <a:t>Key Takeaways</a:t>
            </a:r>
          </a:p>
        </p:txBody>
      </p:sp>
      <p:sp>
        <p:nvSpPr>
          <p:cNvPr id="3" name="Content Placeholder 2">
            <a:extLst>
              <a:ext uri="{FF2B5EF4-FFF2-40B4-BE49-F238E27FC236}">
                <a16:creationId xmlns:a16="http://schemas.microsoft.com/office/drawing/2014/main" id="{A871C333-22C7-410F-B7BC-8BA9DC96D8FF}"/>
              </a:ext>
            </a:extLst>
          </p:cNvPr>
          <p:cNvSpPr>
            <a:spLocks noGrp="1"/>
          </p:cNvSpPr>
          <p:nvPr>
            <p:ph idx="1"/>
          </p:nvPr>
        </p:nvSpPr>
        <p:spPr>
          <a:xfrm>
            <a:off x="370737" y="1340768"/>
            <a:ext cx="8402525" cy="5357794"/>
          </a:xfrm>
        </p:spPr>
        <p:txBody>
          <a:bodyPr>
            <a:normAutofit fontScale="92500" lnSpcReduction="20000"/>
          </a:bodyPr>
          <a:lstStyle/>
          <a:p>
            <a:r>
              <a:rPr lang="en-US" b="1" dirty="0"/>
              <a:t>4. Data-Driven Decision-Making</a:t>
            </a:r>
            <a:r>
              <a:rPr lang="en-US" dirty="0"/>
              <a:t>:</a:t>
            </a:r>
          </a:p>
          <a:p>
            <a:pPr>
              <a:buFont typeface="Arial" panose="020B0604020202020204" pitchFamily="34" charset="0"/>
              <a:buChar char="•"/>
            </a:pPr>
            <a:r>
              <a:rPr lang="en-US" dirty="0"/>
              <a:t>Through the </a:t>
            </a:r>
            <a:r>
              <a:rPr lang="en-US" b="1" dirty="0"/>
              <a:t>data cleaning, modeling, and visualization process</a:t>
            </a:r>
            <a:r>
              <a:rPr lang="en-US" dirty="0"/>
              <a:t>, valuable insights can be derived from historical data, enabling High Cloud Airlines to make strategic decisions based on facts, not just intuition.</a:t>
            </a:r>
          </a:p>
          <a:p>
            <a:pPr>
              <a:buFont typeface="Arial" panose="020B0604020202020204" pitchFamily="34" charset="0"/>
              <a:buChar char="•"/>
            </a:pPr>
            <a:r>
              <a:rPr lang="en-US" b="1" dirty="0"/>
              <a:t>Actionable Suggestion</a:t>
            </a:r>
            <a:r>
              <a:rPr lang="en-US" dirty="0"/>
              <a:t>: Adopt a more data-driven approach across all departments by providing teams with access to interactive dashboards and reports, which can improve strategic decision-making, resource allocation, and customer satisfaction.</a:t>
            </a:r>
          </a:p>
          <a:p>
            <a:r>
              <a:rPr lang="en-US" b="1" dirty="0"/>
              <a:t>5. Route Optimization:</a:t>
            </a:r>
          </a:p>
          <a:p>
            <a:pPr>
              <a:buFont typeface="Arial" panose="020B0604020202020204" pitchFamily="34" charset="0"/>
              <a:buChar char="•"/>
            </a:pPr>
            <a:r>
              <a:rPr lang="en-US" dirty="0"/>
              <a:t>The analysis of routes and their profitability can help determine </a:t>
            </a:r>
            <a:r>
              <a:rPr lang="en-US" b="1" dirty="0"/>
              <a:t>underperforming routes</a:t>
            </a:r>
            <a:r>
              <a:rPr lang="en-US" dirty="0"/>
              <a:t>, which may be candidates for adjustment or discontinuation.</a:t>
            </a:r>
          </a:p>
          <a:p>
            <a:pPr>
              <a:buFont typeface="Arial" panose="020B0604020202020204" pitchFamily="34" charset="0"/>
              <a:buChar char="•"/>
            </a:pPr>
            <a:r>
              <a:rPr lang="en-US" b="1" dirty="0"/>
              <a:t>Actionable Suggestion</a:t>
            </a:r>
            <a:r>
              <a:rPr lang="en-US" dirty="0"/>
              <a:t>: Implement </a:t>
            </a:r>
            <a:r>
              <a:rPr lang="en-US" b="1" dirty="0"/>
              <a:t>dynamic pricing</a:t>
            </a:r>
            <a:r>
              <a:rPr lang="en-US" dirty="0"/>
              <a:t> and </a:t>
            </a:r>
            <a:r>
              <a:rPr lang="en-US" b="1" dirty="0"/>
              <a:t>route optimization strategies</a:t>
            </a:r>
            <a:r>
              <a:rPr lang="en-US" dirty="0"/>
              <a:t> based on seasonal trends, customer preferences, and competitor analysis. Investing in new technologies like machine learning models can enhance decision-making for route planning.</a:t>
            </a:r>
          </a:p>
          <a:p>
            <a:r>
              <a:rPr lang="en-US" b="1" dirty="0"/>
              <a:t>6. Customer Service and Satisfaction:</a:t>
            </a:r>
          </a:p>
          <a:p>
            <a:pPr>
              <a:buFont typeface="Arial" panose="020B0604020202020204" pitchFamily="34" charset="0"/>
              <a:buChar char="•"/>
            </a:pPr>
            <a:r>
              <a:rPr lang="en-US" dirty="0"/>
              <a:t>Understanding operational inefficiencies and passenger satisfaction levels can help improve customer service.</a:t>
            </a:r>
          </a:p>
          <a:p>
            <a:pPr>
              <a:buFont typeface="Arial" panose="020B0604020202020204" pitchFamily="34" charset="0"/>
              <a:buChar char="•"/>
            </a:pPr>
            <a:r>
              <a:rPr lang="en-US" b="1" dirty="0"/>
              <a:t>Actionable Suggestion</a:t>
            </a:r>
            <a:r>
              <a:rPr lang="en-US" dirty="0"/>
              <a:t>: Implement a more customer-centric approach by improving service on popular routes and focusing on areas where customers have shown dissatisfaction (e.g., punctuality, baggage handling).</a:t>
            </a:r>
          </a:p>
          <a:p>
            <a:r>
              <a:rPr lang="en-US" b="1" dirty="0"/>
              <a:t>7. Scenario Analysis for Strategic Planning:</a:t>
            </a:r>
          </a:p>
          <a:p>
            <a:pPr>
              <a:buFont typeface="Arial" panose="020B0604020202020204" pitchFamily="34" charset="0"/>
              <a:buChar char="•"/>
            </a:pPr>
            <a:r>
              <a:rPr lang="en-US" dirty="0"/>
              <a:t>The project also opens the possibility of conducting </a:t>
            </a:r>
            <a:r>
              <a:rPr lang="en-US" b="1" dirty="0"/>
              <a:t>scenario analysis</a:t>
            </a:r>
            <a:r>
              <a:rPr lang="en-US" dirty="0"/>
              <a:t> based on different operational factors like fuel costs, market conditions, and customer demand, allowing for better forecasting.</a:t>
            </a:r>
          </a:p>
          <a:p>
            <a:pPr>
              <a:buFont typeface="Arial" panose="020B0604020202020204" pitchFamily="34" charset="0"/>
              <a:buChar char="•"/>
            </a:pPr>
            <a:r>
              <a:rPr lang="en-US" b="1" dirty="0"/>
              <a:t>Actionable Suggestion</a:t>
            </a:r>
            <a:r>
              <a:rPr lang="en-US" dirty="0"/>
              <a:t>: Create what-if scenarios that predict future outcomes based on different strategic decisions (e.g., increasing fares, reducing fleet size) to guide long-term planning and risk management.</a:t>
            </a:r>
          </a:p>
          <a:p>
            <a:pPr marL="0" indent="0"/>
            <a:endParaRPr lang="en-US" dirty="0"/>
          </a:p>
          <a:p>
            <a:endParaRPr lang="en-IN" dirty="0"/>
          </a:p>
        </p:txBody>
      </p:sp>
    </p:spTree>
    <p:extLst>
      <p:ext uri="{BB962C8B-B14F-4D97-AF65-F5344CB8AC3E}">
        <p14:creationId xmlns:p14="http://schemas.microsoft.com/office/powerpoint/2010/main" val="4136628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14920-B934-739E-08AA-3A7FB2A318F8}"/>
              </a:ext>
            </a:extLst>
          </p:cNvPr>
          <p:cNvSpPr>
            <a:spLocks noGrp="1"/>
          </p:cNvSpPr>
          <p:nvPr>
            <p:ph type="title"/>
          </p:nvPr>
        </p:nvSpPr>
        <p:spPr/>
        <p:txBody>
          <a:bodyPr>
            <a:normAutofit/>
          </a:bodyPr>
          <a:lstStyle/>
          <a:p>
            <a:r>
              <a:rPr lang="en-IN" sz="3600" dirty="0"/>
              <a:t>Conclusion</a:t>
            </a:r>
          </a:p>
        </p:txBody>
      </p:sp>
      <p:sp>
        <p:nvSpPr>
          <p:cNvPr id="3" name="Content Placeholder 2">
            <a:extLst>
              <a:ext uri="{FF2B5EF4-FFF2-40B4-BE49-F238E27FC236}">
                <a16:creationId xmlns:a16="http://schemas.microsoft.com/office/drawing/2014/main" id="{1F4031AC-1341-42F5-0D9D-352C90410956}"/>
              </a:ext>
            </a:extLst>
          </p:cNvPr>
          <p:cNvSpPr>
            <a:spLocks noGrp="1"/>
          </p:cNvSpPr>
          <p:nvPr>
            <p:ph idx="1"/>
          </p:nvPr>
        </p:nvSpPr>
        <p:spPr>
          <a:xfrm>
            <a:off x="395536" y="1412776"/>
            <a:ext cx="8424936" cy="4953694"/>
          </a:xfrm>
        </p:spPr>
        <p:txBody>
          <a:bodyPr/>
          <a:lstStyle/>
          <a:p>
            <a:pPr marL="285750" indent="-285750" algn="just">
              <a:lnSpc>
                <a:spcPct val="150000"/>
              </a:lnSpc>
              <a:buFont typeface="Arial" panose="020B0604020202020204" pitchFamily="34" charset="0"/>
              <a:buChar char="•"/>
            </a:pPr>
            <a:r>
              <a:rPr lang="en-US" sz="1800" dirty="0"/>
              <a:t>In today’s highly competitive aviation sector, airlines has significantly transformed due to big      data analytics.</a:t>
            </a:r>
          </a:p>
          <a:p>
            <a:pPr algn="just">
              <a:lnSpc>
                <a:spcPct val="150000"/>
              </a:lnSpc>
              <a:buFont typeface="Arial" panose="020B0604020202020204" pitchFamily="34" charset="0"/>
              <a:buChar char="•"/>
            </a:pPr>
            <a:r>
              <a:rPr lang="en-US" sz="1800" dirty="0"/>
              <a:t>The analysis of High Cloud Airline data has given valuable insights that helps to transform the    company operations and customer experience.</a:t>
            </a:r>
          </a:p>
          <a:p>
            <a:pPr algn="just">
              <a:lnSpc>
                <a:spcPct val="150000"/>
              </a:lnSpc>
              <a:buFont typeface="Arial" panose="020B0604020202020204" pitchFamily="34" charset="0"/>
              <a:buChar char="•"/>
            </a:pPr>
            <a:r>
              <a:rPr lang="en-US" sz="1800" dirty="0"/>
              <a:t>The comprehensive study of load factor, passenger preferences, top routes, top carriers, weekly trends has helped us to gain the vast knowledge on aviation sector.</a:t>
            </a:r>
          </a:p>
          <a:p>
            <a:pPr algn="just">
              <a:lnSpc>
                <a:spcPct val="150000"/>
              </a:lnSpc>
              <a:buFont typeface="Arial" panose="020B0604020202020204" pitchFamily="34" charset="0"/>
              <a:buChar char="•"/>
            </a:pPr>
            <a:r>
              <a:rPr lang="en-US" sz="1800" dirty="0"/>
              <a:t>By using BI tools like Excel, Power BI helped us to learn how to handle the large dataset, how to build relationship, and how to effectively transform raw data into useful insights for decision    making.</a:t>
            </a:r>
          </a:p>
          <a:p>
            <a:pPr algn="just">
              <a:lnSpc>
                <a:spcPct val="150000"/>
              </a:lnSpc>
              <a:buFont typeface="Arial" panose="020B0604020202020204" pitchFamily="34" charset="0"/>
              <a:buChar char="•"/>
            </a:pPr>
            <a:r>
              <a:rPr lang="en-US" sz="1800" dirty="0"/>
              <a:t>Finally by this project we understood the role of data analytics in decision making regarding the future of any business sector.</a:t>
            </a:r>
            <a:endParaRPr lang="en-IN" sz="1800" dirty="0"/>
          </a:p>
          <a:p>
            <a:endParaRPr lang="en-IN" dirty="0"/>
          </a:p>
        </p:txBody>
      </p:sp>
    </p:spTree>
    <p:extLst>
      <p:ext uri="{BB962C8B-B14F-4D97-AF65-F5344CB8AC3E}">
        <p14:creationId xmlns:p14="http://schemas.microsoft.com/office/powerpoint/2010/main" val="308030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p:cNvSpPr>
            <a:spLocks noGrp="1"/>
          </p:cNvSpPr>
          <p:nvPr>
            <p:ph type="ctrTitle"/>
          </p:nvPr>
        </p:nvSpPr>
        <p:spPr/>
        <p:txBody>
          <a:bodyPr/>
          <a:lstStyle/>
          <a:p>
            <a:r>
              <a:rPr lang="en-US" altLang="ko-KR"/>
              <a:t>THANK YOU</a:t>
            </a:r>
            <a:endParaRPr lang="ko-KR" altLang="en-US"/>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사용자 지정 1">
      <a:majorFont>
        <a:latin typeface="Calibri"/>
        <a:ea typeface="맑은 고딕"/>
        <a:cs typeface=""/>
      </a:majorFont>
      <a:minorFont>
        <a:latin typeface="Calibri Light"/>
        <a:ea typeface="맑은 고딕"/>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10478</TotalTime>
  <Words>928</Words>
  <Application>Microsoft Office PowerPoint</Application>
  <PresentationFormat>On-screen Show (4:3)</PresentationFormat>
  <Paragraphs>66</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Algerian</vt:lpstr>
      <vt:lpstr>맑은 고딕</vt:lpstr>
      <vt:lpstr>Calibri Light</vt:lpstr>
      <vt:lpstr>굴림체</vt:lpstr>
      <vt:lpstr>Office 테마</vt:lpstr>
      <vt:lpstr>HIGH CLOUD AIRLINE ANALYSIS</vt:lpstr>
      <vt:lpstr>PowerPoint Presentation</vt:lpstr>
      <vt:lpstr>Introduction of the Project</vt:lpstr>
      <vt:lpstr>Objective</vt:lpstr>
      <vt:lpstr>Course of the Project</vt:lpstr>
      <vt:lpstr>Excel Dashboard</vt:lpstr>
      <vt:lpstr>Power BI Dashboard</vt:lpstr>
      <vt:lpstr>Key Takeaways</vt:lpstr>
      <vt:lpstr>Key Takeaways</vt:lpstr>
      <vt:lpstr>Conclusion</vt:lpstr>
      <vt:lpstr>THANK YOU</vt:lpstr>
    </vt:vector>
  </TitlesOfParts>
  <Manager>Slide Members</Manager>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Members</dc:title>
  <dc:subject>Powerpoint Templates , Diagram, Chart, Google slides, Keynote</dc:subject>
  <dc:creator>Slide Members by HS.SEO</dc:creator>
  <cp:keywords>SlideMembers, ppt, PPT Templates, Presentation, Diagram, Chart, Yesform, Google slides, Keynote, Free Slides</cp:keywords>
  <dc:description>The copyright of this document is at Slide Members. Unauthorized copying may result in legal sanctions.</dc:description>
  <cp:lastModifiedBy>Chethan Kumar L</cp:lastModifiedBy>
  <cp:revision>4</cp:revision>
  <dcterms:created xsi:type="dcterms:W3CDTF">2010-02-01T08:03:16Z</dcterms:created>
  <dcterms:modified xsi:type="dcterms:W3CDTF">2025-01-04T09:03:18Z</dcterms:modified>
  <cp:category>www.slidemembers.com</cp:category>
  <cp:version>YESFORM Co.,Ltd.</cp:version>
</cp:coreProperties>
</file>